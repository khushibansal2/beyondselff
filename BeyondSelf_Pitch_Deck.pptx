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0" y="-731520"/>
            <a:ext cx="4572000" cy="4572000"/>
          </a:xfrm>
          <a:prstGeom prst="ellipse">
            <a:avLst/>
          </a:prstGeom>
          <a:solidFill>
            <a:srgbClr val="141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4114800"/>
            <a:ext cx="4114800" cy="4114800"/>
          </a:xfrm>
          <a:prstGeom prst="ellipse">
            <a:avLst/>
          </a:prstGeom>
          <a:solidFill>
            <a:srgbClr val="100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0"/>
            <a:ext cx="22860" cy="68580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8B5CF6"/>
                </a:solidFill>
                <a:latin typeface="Calibri"/>
              </a:rPr>
              <a:t>BEYONDSELF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C4B5FD"/>
                </a:solidFill>
                <a:latin typeface="Calibri"/>
              </a:rPr>
              <a:t>Your AI-Powered Personal Digital Twin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ONE TWIN.  LIMITLESS POSSIBILITIES.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20440"/>
            <a:ext cx="5029200" cy="25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4 June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Presented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7939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B5FD"/>
                </a:solidFill>
                <a:latin typeface="Calibri"/>
              </a:rPr>
              <a:t>Khushi Bansal  ·  Pavani Gubba  ·  Samridhi Pandey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46320"/>
            <a:ext cx="1417320" cy="347472"/>
          </a:xfrm>
          <a:prstGeom prst="roundRect">
            <a:avLst>
              <a:gd name="adj" fmla="val 30000"/>
            </a:avLst>
          </a:prstGeom>
          <a:solidFill>
            <a:srgbClr val="062A14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4864608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DE80"/>
                </a:solidFill>
                <a:latin typeface="Calibri"/>
              </a:rPr>
              <a:t>🏥 Health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4846320"/>
            <a:ext cx="1417320" cy="347472"/>
          </a:xfrm>
          <a:prstGeom prst="roundRect">
            <a:avLst>
              <a:gd name="adj" fmla="val 30000"/>
            </a:avLst>
          </a:prstGeom>
          <a:solidFill>
            <a:srgbClr val="331A03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59152" y="4864608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  <a:latin typeface="Calibri"/>
              </a:rPr>
              <a:t>💰 Finance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31920" y="4846320"/>
            <a:ext cx="1417320" cy="347472"/>
          </a:xfrm>
          <a:prstGeom prst="roundRect">
            <a:avLst>
              <a:gd name="adj" fmla="val 30000"/>
            </a:avLst>
          </a:prstGeom>
          <a:solidFill>
            <a:srgbClr val="0E2450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05072" y="4864608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0A5FA"/>
                </a:solidFill>
                <a:latin typeface="Calibri"/>
              </a:rPr>
              <a:t>💼 Career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0" y="2285999"/>
            <a:ext cx="2926080" cy="2926080"/>
          </a:xfrm>
          <a:prstGeom prst="ellipse">
            <a:avLst/>
          </a:prstGeom>
          <a:noFill/>
          <a:ln w="15240">
            <a:solidFill>
              <a:srgbClr val="6D2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0" y="2651759"/>
            <a:ext cx="2194560" cy="2194560"/>
          </a:xfrm>
          <a:prstGeom prst="ellipse">
            <a:avLst/>
          </a:prstGeom>
          <a:noFill/>
          <a:ln w="15240">
            <a:solidFill>
              <a:srgbClr val="6D28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19" y="3017520"/>
            <a:ext cx="1463040" cy="1463040"/>
          </a:xfrm>
          <a:prstGeom prst="ellipse">
            <a:avLst/>
          </a:prstGeom>
          <a:noFill/>
          <a:ln w="15240">
            <a:solidFill>
              <a:srgbClr val="6D28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828800"/>
            <a:ext cx="2103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4F46E5"/>
                </a:solidFill>
                <a:latin typeface="Calibri"/>
              </a:rPr>
              <a:t>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5661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5563"/>
                </a:solidFill>
                <a:latin typeface="Calibri"/>
              </a:rPr>
              <a:t>Digital Twin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2286000"/>
            <a:ext cx="777240" cy="777240"/>
          </a:xfrm>
          <a:prstGeom prst="roundRect">
            <a:avLst>
              <a:gd name="adj" fmla="val 25000"/>
            </a:avLst>
          </a:prstGeom>
          <a:solidFill>
            <a:srgbClr val="3B1111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228600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789920" y="2286000"/>
            <a:ext cx="777240" cy="777240"/>
          </a:xfrm>
          <a:prstGeom prst="roundRect">
            <a:avLst>
              <a:gd name="adj" fmla="val 25000"/>
            </a:avLst>
          </a:prstGeom>
          <a:solidFill>
            <a:srgbClr val="18293E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0" y="228600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4389120"/>
            <a:ext cx="777240" cy="777240"/>
          </a:xfrm>
          <a:prstGeom prst="roundRect">
            <a:avLst>
              <a:gd name="adj" fmla="val 25000"/>
            </a:avLst>
          </a:prstGeom>
          <a:solidFill>
            <a:srgbClr val="3D2702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438912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💳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0" y="4389120"/>
            <a:ext cx="777240" cy="777240"/>
          </a:xfrm>
          <a:prstGeom prst="roundRect">
            <a:avLst>
              <a:gd name="adj" fmla="val 25000"/>
            </a:avLst>
          </a:prstGeom>
          <a:solidFill>
            <a:srgbClr val="042E20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0" y="438912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988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A9F55"/>
                </a:solidFill>
                <a:latin typeface="Calibri"/>
              </a:rPr>
              <a:t>THE CHALLENGE  ·  WHY BEYONDSELF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8988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Life Data Lives in Silos.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No existing app connects Health, Finance &amp; Career into one intelligent 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74552" cy="25400"/>
          </a:xfrm>
          <a:prstGeom prst="rect">
            <a:avLst/>
          </a:prstGeom>
          <a:solidFill>
            <a:srgbClr val="24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91472" y="182880"/>
            <a:ext cx="2377440" cy="320040"/>
          </a:xfrm>
          <a:prstGeom prst="roundRect">
            <a:avLst>
              <a:gd name="adj" fmla="val 40000"/>
            </a:avLst>
          </a:prstGeom>
          <a:solidFill>
            <a:srgbClr val="1A1838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82912" y="2011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4B5FD"/>
                </a:solidFill>
                <a:latin typeface="Calibri"/>
              </a:rPr>
              <a:t>BeyondSelf · Digital Twin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417320"/>
            <a:ext cx="5669280" cy="2240280"/>
          </a:xfrm>
          <a:prstGeom prst="roundRect">
            <a:avLst>
              <a:gd name="adj" fmla="val 4000"/>
            </a:avLst>
          </a:prstGeom>
          <a:solidFill>
            <a:srgbClr val="3A2006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417320"/>
            <a:ext cx="5669280" cy="317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D2702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545336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Calibri"/>
              </a:rPr>
              <a:t>🔀  Data Fragmentation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6596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Fitbit, bank slips, LinkedIn, lab reports — 6+ disconnected apps. No single source of truth about your life.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73368" y="1417320"/>
            <a:ext cx="5669280" cy="2240280"/>
          </a:xfrm>
          <a:prstGeom prst="roundRect">
            <a:avLst>
              <a:gd name="adj" fmla="val 4000"/>
            </a:avLst>
          </a:prstGeom>
          <a:solidFill>
            <a:srgbClr val="381606"/>
          </a:solidFill>
          <a:ln w="15240">
            <a:solidFill>
              <a:srgbClr val="F971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73368" y="1417320"/>
            <a:ext cx="5669280" cy="31750"/>
          </a:xfrm>
          <a:prstGeom prst="rect">
            <a:avLst/>
          </a:prstGeom>
          <a:solidFill>
            <a:srgbClr val="F97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E1C05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545336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7116"/>
                </a:solidFill>
                <a:latin typeface="Calibri"/>
              </a:rPr>
              <a:t>🕸️  Cross-Domain Blindness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196596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Higher salary → less sleep → poor health → lower output. No app modelled this invisible chain.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867912"/>
            <a:ext cx="5669280" cy="2240280"/>
          </a:xfrm>
          <a:prstGeom prst="roundRect">
            <a:avLst>
              <a:gd name="adj" fmla="val 4000"/>
            </a:avLst>
          </a:prstGeom>
          <a:solidFill>
            <a:srgbClr val="251548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867912"/>
            <a:ext cx="5669280" cy="317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3977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2173D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995928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5CF6"/>
                </a:solidFill>
                <a:latin typeface="Calibri"/>
              </a:rPr>
              <a:t>🎙️  Smart Input Classification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416552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'Spent ₹450 on medicine' — Health? Finance? Both? Zero apps auto-classified natural speech.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73368" y="3867912"/>
            <a:ext cx="5669280" cy="2240280"/>
          </a:xfrm>
          <a:prstGeom prst="roundRect">
            <a:avLst>
              <a:gd name="adj" fmla="val 4000"/>
            </a:avLst>
          </a:prstGeom>
          <a:solidFill>
            <a:srgbClr val="400A10"/>
          </a:solidFill>
          <a:ln w="1524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73368" y="3867912"/>
            <a:ext cx="5669280" cy="317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3977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B1111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3995928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4444"/>
                </a:solidFill>
                <a:latin typeface="Calibri"/>
              </a:rPr>
              <a:t>🔓  Privacy Exposure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6248" y="4416552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Raw bank statements &amp; medical reports sent unfiltered to AI models. Names, phones, account numbers exposed.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988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57ECB"/>
                </a:solidFill>
                <a:latin typeface="Calibri"/>
              </a:rPr>
              <a:t>THE SOLUTION  ·  PERSONAL DIGITAL 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8988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BeyondSelf — One Intelligent 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AI-powered, privacy-first, cross-domain life intelligence platform.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74552" cy="25400"/>
          </a:xfrm>
          <a:prstGeom prst="rect">
            <a:avLst/>
          </a:prstGeom>
          <a:solidFill>
            <a:srgbClr val="24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91472" y="182880"/>
            <a:ext cx="2377440" cy="320040"/>
          </a:xfrm>
          <a:prstGeom prst="roundRect">
            <a:avLst>
              <a:gd name="adj" fmla="val 40000"/>
            </a:avLst>
          </a:prstGeom>
          <a:solidFill>
            <a:srgbClr val="1A1838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82912" y="2011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4B5FD"/>
                </a:solidFill>
                <a:latin typeface="Calibri"/>
              </a:rPr>
              <a:t>BeyondSelf · Digital Twin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463040"/>
            <a:ext cx="2560320" cy="3200400"/>
          </a:xfrm>
          <a:prstGeom prst="roundRect">
            <a:avLst>
              <a:gd name="adj" fmla="val 6000"/>
            </a:avLst>
          </a:prstGeom>
          <a:solidFill>
            <a:srgbClr val="181538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37760" y="1463040"/>
            <a:ext cx="2560320" cy="25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5544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 i="0">
                <a:solidFill>
                  <a:srgbClr val="8B5CF6"/>
                </a:solidFill>
                <a:latin typeface="Calibri"/>
              </a:rPr>
              <a:t>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6334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4B5FD"/>
                </a:solidFill>
                <a:latin typeface="Calibri"/>
              </a:rPr>
              <a:t>Digital Twin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99923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D3EE"/>
                </a:solidFill>
                <a:latin typeface="Calibri"/>
              </a:rPr>
              <a:t>Life Score: 74 / 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31012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Powered by 9 Engines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194560"/>
            <a:ext cx="2194560" cy="1828800"/>
          </a:xfrm>
          <a:prstGeom prst="roundRect">
            <a:avLst>
              <a:gd name="adj" fmla="val 6000"/>
            </a:avLst>
          </a:prstGeom>
          <a:solidFill>
            <a:srgbClr val="0C2515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194560"/>
            <a:ext cx="2194560" cy="254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286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DE80"/>
                </a:solidFill>
                <a:latin typeface="Calibri"/>
              </a:rPr>
              <a:t>♥  Health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69748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Sleep · Workouts
Stress · Nutrition · BMI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0" y="228600"/>
            <a:ext cx="2194560" cy="1828800"/>
          </a:xfrm>
          <a:prstGeom prst="roundRect">
            <a:avLst>
              <a:gd name="adj" fmla="val 6000"/>
            </a:avLst>
          </a:prstGeom>
          <a:solidFill>
            <a:srgbClr val="281A01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37760" y="228600"/>
            <a:ext cx="2194560" cy="25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320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Calibri"/>
              </a:rPr>
              <a:t>💰  Finance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73152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Salary · Expenses
Savings · Bills · Goals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55480" y="2194560"/>
            <a:ext cx="2194560" cy="1828800"/>
          </a:xfrm>
          <a:prstGeom prst="roundRect">
            <a:avLst>
              <a:gd name="adj" fmla="val 6000"/>
            </a:avLst>
          </a:prstGeom>
          <a:solidFill>
            <a:srgbClr val="101B29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55480" y="2194560"/>
            <a:ext cx="2194560" cy="254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2286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0A5FA"/>
                </a:solidFill>
                <a:latin typeface="Calibri"/>
              </a:rPr>
              <a:t>💼  Career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269748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Skills · GitHub
Certificates · Jobs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3063240"/>
            <a:ext cx="2377440" cy="19050"/>
          </a:xfrm>
          <a:prstGeom prst="rect">
            <a:avLst/>
          </a:prstGeom>
          <a:solidFill>
            <a:srgbClr val="2A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0" y="3063240"/>
            <a:ext cx="2971800" cy="19050"/>
          </a:xfrm>
          <a:prstGeom prst="rect">
            <a:avLst/>
          </a:prstGeom>
          <a:solidFill>
            <a:srgbClr val="2A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1444752"/>
            <a:ext cx="19050" cy="18288"/>
          </a:xfrm>
          <a:prstGeom prst="rect">
            <a:avLst/>
          </a:prstGeom>
          <a:solidFill>
            <a:srgbClr val="3A2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0" y="1444752"/>
            <a:ext cx="3657600" cy="822960"/>
          </a:xfrm>
          <a:prstGeom prst="roundRect">
            <a:avLst>
              <a:gd name="adj" fmla="val 4000"/>
            </a:avLst>
          </a:prstGeom>
          <a:solidFill>
            <a:srgbClr val="12112C"/>
          </a:solidFill>
          <a:ln w="12700">
            <a:solidFill>
              <a:srgbClr val="242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5087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152704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One life score — Health+Finance+Career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2432304"/>
            <a:ext cx="3657600" cy="822960"/>
          </a:xfrm>
          <a:prstGeom prst="roundRect">
            <a:avLst>
              <a:gd name="adj" fmla="val 4000"/>
            </a:avLst>
          </a:prstGeom>
          <a:solidFill>
            <a:srgbClr val="12112C"/>
          </a:solidFill>
          <a:ln w="12700">
            <a:solidFill>
              <a:srgbClr val="242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249631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2514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Groq AI classifies every input auto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3419856"/>
            <a:ext cx="3657600" cy="822960"/>
          </a:xfrm>
          <a:prstGeom prst="roundRect">
            <a:avLst>
              <a:gd name="adj" fmla="val 4000"/>
            </a:avLst>
          </a:prstGeom>
          <a:solidFill>
            <a:srgbClr val="12112C"/>
          </a:solidFill>
          <a:ln w="12700">
            <a:solidFill>
              <a:srgbClr val="242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348386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350215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12-month trajectory with confidence decay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0" y="4407408"/>
            <a:ext cx="3657600" cy="822960"/>
          </a:xfrm>
          <a:prstGeom prst="roundRect">
            <a:avLst>
              <a:gd name="adj" fmla="val 4000"/>
            </a:avLst>
          </a:prstGeom>
          <a:solidFill>
            <a:srgbClr val="12112C"/>
          </a:solidFill>
          <a:ln w="12700">
            <a:solidFill>
              <a:srgbClr val="242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44714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448970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PII stripped before any AI call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0" y="5394960"/>
            <a:ext cx="3657600" cy="822960"/>
          </a:xfrm>
          <a:prstGeom prst="roundRect">
            <a:avLst>
              <a:gd name="adj" fmla="val 4000"/>
            </a:avLst>
          </a:prstGeom>
          <a:solidFill>
            <a:srgbClr val="12112C"/>
          </a:solidFill>
          <a:ln w="12700">
            <a:solidFill>
              <a:srgbClr val="242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54589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547725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Cascade Map: decisions ripple cross-domain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988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57ECB"/>
                </a:solidFill>
                <a:latin typeface="Calibri"/>
              </a:rPr>
              <a:t>FEATURES  ·  ORIGINAL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8988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Features That Didn't Exist Before.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9 breakthrough features built from scratch — no rival has this combination.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74552" cy="25400"/>
          </a:xfrm>
          <a:prstGeom prst="rect">
            <a:avLst/>
          </a:prstGeom>
          <a:solidFill>
            <a:srgbClr val="24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91472" y="182880"/>
            <a:ext cx="2377440" cy="320040"/>
          </a:xfrm>
          <a:prstGeom prst="roundRect">
            <a:avLst>
              <a:gd name="adj" fmla="val 40000"/>
            </a:avLst>
          </a:prstGeom>
          <a:solidFill>
            <a:srgbClr val="1A1838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82912" y="2011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4B5FD"/>
                </a:solidFill>
                <a:latin typeface="Calibri"/>
              </a:rPr>
              <a:t>BeyondSelf · Digital Twin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444752"/>
            <a:ext cx="3657600" cy="1554480"/>
          </a:xfrm>
          <a:prstGeom prst="roundRect">
            <a:avLst>
              <a:gd name="adj" fmla="val 4000"/>
            </a:avLst>
          </a:prstGeom>
          <a:solidFill>
            <a:srgbClr val="130D23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444752"/>
            <a:ext cx="3657600" cy="317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33284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alibri"/>
              </a:rPr>
              <a:t>⚖️  Life Balance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33284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Health+Finance+Career → one deterministic 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1444752"/>
            <a:ext cx="3657600" cy="1554480"/>
          </a:xfrm>
          <a:prstGeom prst="roundRect">
            <a:avLst>
              <a:gd name="adj" fmla="val 4000"/>
            </a:avLst>
          </a:prstGeom>
          <a:solidFill>
            <a:srgbClr val="0D0D23"/>
          </a:solidFill>
          <a:ln w="15240">
            <a:solidFill>
              <a:srgbClr val="60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4256" y="1444752"/>
            <a:ext cx="3657600" cy="31750"/>
          </a:xfrm>
          <a:prstGeom prst="rect">
            <a:avLst/>
          </a:prstGeom>
          <a:solidFill>
            <a:srgbClr val="60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591056"/>
            <a:ext cx="33284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5CF6"/>
                </a:solidFill>
                <a:latin typeface="Calibri"/>
              </a:rPr>
              <a:t>🌌  Talk With Future Self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011680"/>
            <a:ext cx="33284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Groq AI answers as your projected 2028 self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84464" y="1444752"/>
            <a:ext cx="3657600" cy="1554480"/>
          </a:xfrm>
          <a:prstGeom prst="roundRect">
            <a:avLst>
              <a:gd name="adj" fmla="val 4000"/>
            </a:avLst>
          </a:prstGeom>
          <a:solidFill>
            <a:srgbClr val="0D1723"/>
          </a:solidFill>
          <a:ln w="1524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84464" y="1444752"/>
            <a:ext cx="3657600" cy="3175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9056" y="1591056"/>
            <a:ext cx="33284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Calibri"/>
              </a:rPr>
              <a:t>🗺️  Cascade 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2011680"/>
            <a:ext cx="33284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Cross-domain cause-effect modelled in real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3136392"/>
            <a:ext cx="3657600" cy="1554480"/>
          </a:xfrm>
          <a:prstGeom prst="roundRect">
            <a:avLst>
              <a:gd name="adj" fmla="val 4000"/>
            </a:avLst>
          </a:prstGeom>
          <a:solidFill>
            <a:srgbClr val="231601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3136392"/>
            <a:ext cx="3657600" cy="317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282696"/>
            <a:ext cx="33284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⚡  Stress Test Simulator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703320"/>
            <a:ext cx="33284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Simulate job loss / medical crisis — see cross-domain impact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34256" y="3136392"/>
            <a:ext cx="3657600" cy="1554480"/>
          </a:xfrm>
          <a:prstGeom prst="roundRect">
            <a:avLst>
              <a:gd name="adj" fmla="val 4000"/>
            </a:avLst>
          </a:prstGeom>
          <a:solidFill>
            <a:srgbClr val="0A1F12"/>
          </a:solidFill>
          <a:ln w="1524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34256" y="3136392"/>
            <a:ext cx="3657600" cy="3175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98848" y="3282696"/>
            <a:ext cx="33284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  <a:latin typeface="Calibri"/>
              </a:rPr>
              <a:t>🌱  Life Bloom Plant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8848" y="3703320"/>
            <a:ext cx="33284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Goals = plant growth. Burnout = wilting SVG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84464" y="3136392"/>
            <a:ext cx="3657600" cy="1554480"/>
          </a:xfrm>
          <a:prstGeom prst="roundRect">
            <a:avLst>
              <a:gd name="adj" fmla="val 4000"/>
            </a:avLst>
          </a:prstGeom>
          <a:solidFill>
            <a:srgbClr val="210A15"/>
          </a:solidFill>
          <a:ln w="1524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84464" y="3136392"/>
            <a:ext cx="3657600" cy="3175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49056" y="3282696"/>
            <a:ext cx="33284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C4899"/>
                </a:solidFill>
                <a:latin typeface="Calibri"/>
              </a:rPr>
              <a:t>🪞  Adaptive Digital Avatar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49056" y="3703320"/>
            <a:ext cx="33284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Avatar state shifts with your Life Score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" y="4828032"/>
            <a:ext cx="3657600" cy="1554480"/>
          </a:xfrm>
          <a:prstGeom prst="roundRect">
            <a:avLst>
              <a:gd name="adj" fmla="val 4000"/>
            </a:avLst>
          </a:prstGeom>
          <a:solidFill>
            <a:srgbClr val="021A12"/>
          </a:solidFill>
          <a:ln w="1524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4048" y="4828032"/>
            <a:ext cx="3657600" cy="317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974336"/>
            <a:ext cx="33284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🎙️  Universal AI Input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394960"/>
            <a:ext cx="33284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Speak or upload — Groq routes to correct domain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34256" y="4828032"/>
            <a:ext cx="3657600" cy="1554480"/>
          </a:xfrm>
          <a:prstGeom prst="roundRect">
            <a:avLst>
              <a:gd name="adj" fmla="val 4000"/>
            </a:avLst>
          </a:prstGeom>
          <a:solidFill>
            <a:srgbClr val="041E22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34256" y="4828032"/>
            <a:ext cx="3657600" cy="317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98848" y="4974336"/>
            <a:ext cx="33284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👻  Ghost Timeline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98848" y="5394960"/>
            <a:ext cx="33284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Past ghosts + future projections on one axis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84464" y="4828032"/>
            <a:ext cx="3657600" cy="1554480"/>
          </a:xfrm>
          <a:prstGeom prst="roundRect">
            <a:avLst>
              <a:gd name="adj" fmla="val 4000"/>
            </a:avLst>
          </a:prstGeom>
          <a:solidFill>
            <a:srgbClr val="231B05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84464" y="4828032"/>
            <a:ext cx="3657600" cy="3175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49056" y="4974336"/>
            <a:ext cx="33284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Calibri"/>
              </a:rPr>
              <a:t>🏪  LIFE Market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49056" y="5394960"/>
            <a:ext cx="33284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Earn purchases by completing life-goal commitments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988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C885B"/>
                </a:solidFill>
                <a:latin typeface="Calibri"/>
              </a:rPr>
              <a:t>TECH STACK SELECTION &amp; REASON · SLIDE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8988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Frontend &amp;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React 19 · Vite 8 · Tailwind v4                Spring Boot 3.2 · Java 21 · PostgreSQL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74552" cy="25400"/>
          </a:xfrm>
          <a:prstGeom prst="rect">
            <a:avLst/>
          </a:prstGeom>
          <a:solidFill>
            <a:srgbClr val="24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91472" y="182880"/>
            <a:ext cx="2377440" cy="320040"/>
          </a:xfrm>
          <a:prstGeom prst="roundRect">
            <a:avLst>
              <a:gd name="adj" fmla="val 40000"/>
            </a:avLst>
          </a:prstGeom>
          <a:solidFill>
            <a:srgbClr val="1A1838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82912" y="2011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4B5FD"/>
                </a:solidFill>
                <a:latin typeface="Calibri"/>
              </a:rPr>
              <a:t>BeyondSelf · Digital Twin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1463040"/>
            <a:ext cx="5715000" cy="5257800"/>
          </a:xfrm>
          <a:prstGeom prst="roundRect">
            <a:avLst>
              <a:gd name="adj" fmla="val 4000"/>
            </a:avLst>
          </a:prstGeom>
          <a:solidFill>
            <a:srgbClr val="0F0E2A"/>
          </a:solidFill>
          <a:ln w="12700">
            <a:solidFill>
              <a:srgbClr val="242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" y="1463040"/>
            <a:ext cx="5715000" cy="25400"/>
          </a:xfrm>
          <a:prstGeom prst="rect">
            <a:avLst/>
          </a:prstGeom>
          <a:solidFill>
            <a:srgbClr val="F97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0352" y="1627632"/>
            <a:ext cx="475488" cy="475488"/>
          </a:xfrm>
          <a:prstGeom prst="roundRect">
            <a:avLst>
              <a:gd name="adj" fmla="val 20000"/>
            </a:avLst>
          </a:prstGeom>
          <a:solidFill>
            <a:srgbClr val="311604"/>
          </a:solidFill>
          <a:ln w="19050">
            <a:solidFill>
              <a:srgbClr val="F971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609344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97116"/>
                </a:solidFill>
                <a:latin typeface="Calibri"/>
              </a:rP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1645920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97116"/>
                </a:solidFill>
                <a:latin typeface="Calibri"/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166420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B5563"/>
                </a:solidFill>
                <a:latin typeface="Calibri"/>
              </a:rPr>
              <a:t>React 19 · Vite 8 · Tailwind v4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" y="2176272"/>
            <a:ext cx="5440680" cy="25400"/>
          </a:xfrm>
          <a:prstGeom prst="rect">
            <a:avLst/>
          </a:prstGeom>
          <a:solidFill>
            <a:srgbClr val="24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331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React 19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2660904"/>
            <a:ext cx="527050" cy="203200"/>
          </a:xfrm>
          <a:prstGeom prst="roundRect">
            <a:avLst>
              <a:gd name="adj" fmla="val 50000"/>
            </a:avLst>
          </a:prstGeom>
          <a:solidFill>
            <a:srgbClr val="163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1152" y="2679954"/>
            <a:ext cx="42545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ADE80"/>
                </a:solidFill>
                <a:latin typeface="Calibri"/>
              </a:rPr>
              <a:t>v19.2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20902" y="2660904"/>
            <a:ext cx="1574800" cy="203200"/>
          </a:xfrm>
          <a:prstGeom prst="roundRect">
            <a:avLst>
              <a:gd name="adj" fmla="val 50000"/>
            </a:avLst>
          </a:prstGeom>
          <a:solidFill>
            <a:srgbClr val="2A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1702" y="2679954"/>
            <a:ext cx="1473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C4B5FD"/>
                </a:solidFill>
                <a:latin typeface="Calibri"/>
              </a:rPr>
              <a:t>Concurrent Rendering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76272" y="2331720"/>
            <a:ext cx="3611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New concurrent model keeps UI responsive while 9 scoring engines compute simultaneously in the background — no jank on the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32918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Vite 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3621024"/>
            <a:ext cx="457200" cy="203200"/>
          </a:xfrm>
          <a:prstGeom prst="roundRect">
            <a:avLst>
              <a:gd name="adj" fmla="val 50000"/>
            </a:avLst>
          </a:prstGeom>
          <a:solidFill>
            <a:srgbClr val="163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152" y="3640074"/>
            <a:ext cx="355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ADE80"/>
                </a:solidFill>
                <a:latin typeface="Calibri"/>
              </a:rPr>
              <a:t>v8.0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1052" y="3621024"/>
            <a:ext cx="876300" cy="203200"/>
          </a:xfrm>
          <a:prstGeom prst="roundRect">
            <a:avLst>
              <a:gd name="adj" fmla="val 50000"/>
            </a:avLst>
          </a:prstGeom>
          <a:solidFill>
            <a:srgbClr val="2A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1852" y="3640074"/>
            <a:ext cx="7747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C4B5FD"/>
                </a:solidFill>
                <a:latin typeface="Calibri"/>
              </a:rPr>
              <a:t>Build Tool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76272" y="3291840"/>
            <a:ext cx="3611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Native ES modules give sub-100ms HMR; lazy-loaded heavy pages (Coach, NeuralCore) only bundle when visited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4251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Tailwind CSS v4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" y="4581144"/>
            <a:ext cx="457200" cy="203200"/>
          </a:xfrm>
          <a:prstGeom prst="roundRect">
            <a:avLst>
              <a:gd name="adj" fmla="val 50000"/>
            </a:avLst>
          </a:prstGeom>
          <a:solidFill>
            <a:srgbClr val="163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1152" y="4600194"/>
            <a:ext cx="355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ADE80"/>
                </a:solidFill>
                <a:latin typeface="Calibri"/>
              </a:rPr>
              <a:t>v4.3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1052" y="4581144"/>
            <a:ext cx="666750" cy="203200"/>
          </a:xfrm>
          <a:prstGeom prst="roundRect">
            <a:avLst>
              <a:gd name="adj" fmla="val 50000"/>
            </a:avLst>
          </a:prstGeom>
          <a:solidFill>
            <a:srgbClr val="2A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01852" y="4600194"/>
            <a:ext cx="56515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C4B5FD"/>
                </a:solidFill>
                <a:latin typeface="Calibri"/>
              </a:rPr>
              <a:t>Styling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76272" y="4251960"/>
            <a:ext cx="3611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Utility-first lets us build the glassmorphism dark UI and custom glass-card / bg-mesh classes without writing raw CSS files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52120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Framer Motion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" y="5541264"/>
            <a:ext cx="596900" cy="203200"/>
          </a:xfrm>
          <a:prstGeom prst="roundRect">
            <a:avLst>
              <a:gd name="adj" fmla="val 50000"/>
            </a:avLst>
          </a:prstGeom>
          <a:solidFill>
            <a:srgbClr val="163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1152" y="5560314"/>
            <a:ext cx="4953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ADE80"/>
                </a:solidFill>
                <a:latin typeface="Calibri"/>
              </a:rPr>
              <a:t>v12.38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90752" y="5541264"/>
            <a:ext cx="806450" cy="203200"/>
          </a:xfrm>
          <a:prstGeom prst="roundRect">
            <a:avLst>
              <a:gd name="adj" fmla="val 50000"/>
            </a:avLst>
          </a:prstGeom>
          <a:solidFill>
            <a:srgbClr val="2A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1552" y="5560314"/>
            <a:ext cx="70485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C4B5FD"/>
                </a:solidFill>
                <a:latin typeface="Calibri"/>
              </a:rPr>
              <a:t>Animation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76272" y="5212080"/>
            <a:ext cx="3611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Declarative spring physics for score rings, page transitions, and cascade visualizations — no manual requestAnimationFrame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" y="6172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Recharts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0352" y="6501384"/>
            <a:ext cx="457200" cy="203200"/>
          </a:xfrm>
          <a:prstGeom prst="roundRect">
            <a:avLst>
              <a:gd name="adj" fmla="val 50000"/>
            </a:avLst>
          </a:prstGeom>
          <a:solidFill>
            <a:srgbClr val="163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1152" y="6520434"/>
            <a:ext cx="355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ADE80"/>
                </a:solidFill>
                <a:latin typeface="Calibri"/>
              </a:rPr>
              <a:t>v3.8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51052" y="6501384"/>
            <a:ext cx="736600" cy="203200"/>
          </a:xfrm>
          <a:prstGeom prst="roundRect">
            <a:avLst>
              <a:gd name="adj" fmla="val 50000"/>
            </a:avLst>
          </a:prstGeom>
          <a:solidFill>
            <a:srgbClr val="2A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01852" y="6520434"/>
            <a:ext cx="635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C4B5FD"/>
                </a:solidFill>
                <a:latin typeface="Calibri"/>
              </a:rPr>
              <a:t>Data Viz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76272" y="6172200"/>
            <a:ext cx="3611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React-native SVG charts — AreaChart, BarcChart, RadialBarChart render domain trends with zero canvas complexity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26480" y="1463040"/>
            <a:ext cx="5715000" cy="5257800"/>
          </a:xfrm>
          <a:prstGeom prst="roundRect">
            <a:avLst>
              <a:gd name="adj" fmla="val 4000"/>
            </a:avLst>
          </a:prstGeom>
          <a:solidFill>
            <a:srgbClr val="0F0E2A"/>
          </a:solidFill>
          <a:ln w="12700">
            <a:solidFill>
              <a:srgbClr val="242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26480" y="1463040"/>
            <a:ext cx="5715000" cy="254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09360" y="1627632"/>
            <a:ext cx="475488" cy="475488"/>
          </a:xfrm>
          <a:prstGeom prst="roundRect">
            <a:avLst>
              <a:gd name="adj" fmla="val 20000"/>
            </a:avLst>
          </a:prstGeom>
          <a:solidFill>
            <a:srgbClr val="132132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1609344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60A5FA"/>
                </a:solidFill>
                <a:latin typeface="Calibri"/>
              </a:rPr>
              <a:t>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03720" y="1645920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0A5FA"/>
                </a:solidFill>
                <a:latin typeface="Calibri"/>
              </a:rPr>
              <a:t>Backend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15400" y="166420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B5563"/>
                </a:solidFill>
                <a:latin typeface="Calibri"/>
              </a:rPr>
              <a:t>Spring Boot 3.2 · Java 21 · PostgreSQL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2176272"/>
            <a:ext cx="5440680" cy="25400"/>
          </a:xfrm>
          <a:prstGeom prst="rect">
            <a:avLst/>
          </a:prstGeom>
          <a:solidFill>
            <a:srgbClr val="24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09360" y="2331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Spring Boot 3.2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09360" y="2660904"/>
            <a:ext cx="666750" cy="203200"/>
          </a:xfrm>
          <a:prstGeom prst="roundRect">
            <a:avLst>
              <a:gd name="adj" fmla="val 50000"/>
            </a:avLst>
          </a:prstGeom>
          <a:solidFill>
            <a:srgbClr val="163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60160" y="2679954"/>
            <a:ext cx="56515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ADE80"/>
                </a:solidFill>
                <a:latin typeface="Calibri"/>
              </a:rPr>
              <a:t>Java 21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039610" y="2660904"/>
            <a:ext cx="876300" cy="203200"/>
          </a:xfrm>
          <a:prstGeom prst="roundRect">
            <a:avLst>
              <a:gd name="adj" fmla="val 50000"/>
            </a:avLst>
          </a:prstGeom>
          <a:solidFill>
            <a:srgbClr val="2A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90410" y="2679954"/>
            <a:ext cx="7747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C4B5FD"/>
                </a:solidFill>
                <a:latin typeface="Calibri"/>
              </a:rPr>
              <a:t>API Server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55280" y="2331720"/>
            <a:ext cx="3611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Virtual threads (Project Loom) handle concurrent AI proxy calls without thread-pool exhaustion — critical for the Groq + Gemini proxy endpoints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60" y="32918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JWT + BCrypt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309360" y="3621024"/>
            <a:ext cx="736600" cy="203200"/>
          </a:xfrm>
          <a:prstGeom prst="roundRect">
            <a:avLst>
              <a:gd name="adj" fmla="val 50000"/>
            </a:avLst>
          </a:prstGeom>
          <a:solidFill>
            <a:srgbClr val="163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60160" y="3640074"/>
            <a:ext cx="635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ADE80"/>
                </a:solidFill>
                <a:latin typeface="Calibri"/>
              </a:rPr>
              <a:t>JWT 0.12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109460" y="3621024"/>
            <a:ext cx="457200" cy="203200"/>
          </a:xfrm>
          <a:prstGeom prst="roundRect">
            <a:avLst>
              <a:gd name="adj" fmla="val 50000"/>
            </a:avLst>
          </a:prstGeom>
          <a:solidFill>
            <a:srgbClr val="2A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60260" y="3640074"/>
            <a:ext cx="355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C4B5FD"/>
                </a:solidFill>
                <a:latin typeface="Calibri"/>
              </a:rPr>
              <a:t>Auth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55280" y="3291840"/>
            <a:ext cx="3611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Stateless auth supports two token formats simultaneously — real JWT for backend users and base64 demo tokens for offline judges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09360" y="4251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Bucket4j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309360" y="4581144"/>
            <a:ext cx="527050" cy="203200"/>
          </a:xfrm>
          <a:prstGeom prst="roundRect">
            <a:avLst>
              <a:gd name="adj" fmla="val 50000"/>
            </a:avLst>
          </a:prstGeom>
          <a:solidFill>
            <a:srgbClr val="163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60160" y="4600194"/>
            <a:ext cx="42545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ADE80"/>
                </a:solidFill>
                <a:latin typeface="Calibri"/>
              </a:rPr>
              <a:t>v8.10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899910" y="4581144"/>
            <a:ext cx="1085850" cy="203200"/>
          </a:xfrm>
          <a:prstGeom prst="roundRect">
            <a:avLst>
              <a:gd name="adj" fmla="val 50000"/>
            </a:avLst>
          </a:prstGeom>
          <a:solidFill>
            <a:srgbClr val="2A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950710" y="4600194"/>
            <a:ext cx="98425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C4B5FD"/>
                </a:solidFill>
                <a:latin typeface="Calibri"/>
              </a:rPr>
              <a:t>Rate Limiting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55280" y="4251960"/>
            <a:ext cx="3611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Per-IP token buckets cap AI proxy at 20 req/min — protects free-tier Groq quota from accidental or malicious exhaustion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52120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Flyway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309360" y="5541264"/>
            <a:ext cx="596900" cy="203200"/>
          </a:xfrm>
          <a:prstGeom prst="roundRect">
            <a:avLst>
              <a:gd name="adj" fmla="val 50000"/>
            </a:avLst>
          </a:prstGeom>
          <a:solidFill>
            <a:srgbClr val="163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60160" y="5560314"/>
            <a:ext cx="4953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ADE80"/>
                </a:solidFill>
                <a:latin typeface="Calibri"/>
              </a:rPr>
              <a:t>v10.10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969760" y="5541264"/>
            <a:ext cx="1085850" cy="203200"/>
          </a:xfrm>
          <a:prstGeom prst="roundRect">
            <a:avLst>
              <a:gd name="adj" fmla="val 50000"/>
            </a:avLst>
          </a:prstGeom>
          <a:solidFill>
            <a:srgbClr val="2A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20560" y="5560314"/>
            <a:ext cx="98425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C4B5FD"/>
                </a:solidFill>
                <a:latin typeface="Calibri"/>
              </a:rPr>
              <a:t>DB Migrations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955280" y="5212080"/>
            <a:ext cx="3611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Versioned SQL scripts prevent schema drift between teammates' local databases and production — no 'works on my machine' DB issues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09360" y="6172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POI · PDFBox · OpenCSV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309360" y="6501384"/>
            <a:ext cx="247650" cy="203200"/>
          </a:xfrm>
          <a:prstGeom prst="roundRect">
            <a:avLst>
              <a:gd name="adj" fmla="val 50000"/>
            </a:avLst>
          </a:prstGeom>
          <a:solidFill>
            <a:srgbClr val="163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60160" y="6520434"/>
            <a:ext cx="14605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ADE80"/>
                </a:solidFill>
                <a:latin typeface="Calibri"/>
              </a:rPr>
              <a:t>—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620510" y="6501384"/>
            <a:ext cx="1016000" cy="203200"/>
          </a:xfrm>
          <a:prstGeom prst="roundRect">
            <a:avLst>
              <a:gd name="adj" fmla="val 50000"/>
            </a:avLst>
          </a:prstGeom>
          <a:solidFill>
            <a:srgbClr val="2A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1310" y="6520434"/>
            <a:ext cx="914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C4B5FD"/>
                </a:solidFill>
                <a:latin typeface="Calibri"/>
              </a:rPr>
              <a:t>File Parsing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955280" y="6172200"/>
            <a:ext cx="3611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Server-side parse of Excel, PDF &amp; CSV uploads with AES-256-GCM encryption at rest — medical and financial files never stored in plaintext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988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6749C"/>
                </a:solidFill>
                <a:latin typeface="Calibri"/>
              </a:rPr>
              <a:t>TECH STACK SELECTION &amp; REASON · SLIDE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8988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AI Layer &amp;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Free-tier AI with deterministic fallbacks — fully functional with zero API keys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74552" cy="25400"/>
          </a:xfrm>
          <a:prstGeom prst="rect">
            <a:avLst/>
          </a:prstGeom>
          <a:solidFill>
            <a:srgbClr val="24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91472" y="182880"/>
            <a:ext cx="2377440" cy="320040"/>
          </a:xfrm>
          <a:prstGeom prst="roundRect">
            <a:avLst>
              <a:gd name="adj" fmla="val 40000"/>
            </a:avLst>
          </a:prstGeom>
          <a:solidFill>
            <a:srgbClr val="1A1838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82912" y="2011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4B5FD"/>
                </a:solidFill>
                <a:latin typeface="Calibri"/>
              </a:rPr>
              <a:t>BeyondSelf · Digital Twin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1463040"/>
            <a:ext cx="5715000" cy="5257800"/>
          </a:xfrm>
          <a:prstGeom prst="roundRect">
            <a:avLst>
              <a:gd name="adj" fmla="val 4000"/>
            </a:avLst>
          </a:prstGeom>
          <a:solidFill>
            <a:srgbClr val="0F0E2A"/>
          </a:solidFill>
          <a:ln w="12700">
            <a:solidFill>
              <a:srgbClr val="242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" y="1463040"/>
            <a:ext cx="5715000" cy="254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0352" y="1627632"/>
            <a:ext cx="475488" cy="475488"/>
          </a:xfrm>
          <a:prstGeom prst="roundRect">
            <a:avLst>
              <a:gd name="adj" fmla="val 20000"/>
            </a:avLst>
          </a:prstGeom>
          <a:solidFill>
            <a:srgbClr val="2F0E1E"/>
          </a:solidFill>
          <a:ln w="1905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609344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C4899"/>
                </a:solidFill>
                <a:latin typeface="Calibri"/>
              </a:rPr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1645920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C4899"/>
                </a:solidFill>
                <a:latin typeface="Calibri"/>
              </a:rPr>
              <a:t>AI &amp;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2" y="168249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B5563"/>
                </a:solidFill>
                <a:latin typeface="Calibri"/>
              </a:rPr>
              <a:t>Groq · Gemini · Tesseract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" y="2176272"/>
            <a:ext cx="5440680" cy="25400"/>
          </a:xfrm>
          <a:prstGeom prst="rect">
            <a:avLst/>
          </a:prstGeom>
          <a:solidFill>
            <a:srgbClr val="24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0352" y="2359152"/>
            <a:ext cx="438912" cy="384048"/>
          </a:xfrm>
          <a:prstGeom prst="roundRect">
            <a:avLst>
              <a:gd name="adj" fmla="val 20000"/>
            </a:avLst>
          </a:prstGeom>
          <a:solidFill>
            <a:srgbClr val="311604"/>
          </a:solidFill>
          <a:ln w="12700">
            <a:solidFill>
              <a:srgbClr val="F971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33172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97116"/>
                </a:solidFill>
                <a:latin typeface="Calibri"/>
              </a:rPr>
              <a:t>GRQ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3317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Groq · LLaMA 3.3-70b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670048"/>
            <a:ext cx="1016000" cy="203200"/>
          </a:xfrm>
          <a:prstGeom prst="roundRect">
            <a:avLst>
              <a:gd name="adj" fmla="val 50000"/>
            </a:avLst>
          </a:prstGeom>
          <a:solidFill>
            <a:srgbClr val="311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8080" y="2689098"/>
            <a:ext cx="914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97116"/>
                </a:solidFill>
                <a:latin typeface="Calibri"/>
              </a:rPr>
              <a:t>Chat / Coach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67712" y="233172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200 tok/s — instant coach replies; free tier, same quality as OpenAI GPT-4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" y="3319272"/>
            <a:ext cx="438912" cy="384048"/>
          </a:xfrm>
          <a:prstGeom prst="roundRect">
            <a:avLst>
              <a:gd name="adj" fmla="val 20000"/>
            </a:avLst>
          </a:prstGeom>
          <a:solidFill>
            <a:srgbClr val="1B1231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329184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B5CF6"/>
                </a:solidFill>
                <a:latin typeface="Calibri"/>
              </a:rPr>
              <a:t>L4V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2918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LLaMA 4 Scout Vision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3630168"/>
            <a:ext cx="876300" cy="203200"/>
          </a:xfrm>
          <a:prstGeom prst="roundRect">
            <a:avLst>
              <a:gd name="adj" fmla="val 50000"/>
            </a:avLst>
          </a:prstGeom>
          <a:solidFill>
            <a:srgbClr val="1B12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8080" y="3649218"/>
            <a:ext cx="7747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8B5CF6"/>
                </a:solidFill>
                <a:latin typeface="Calibri"/>
              </a:rPr>
              <a:t>Multimodal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67712" y="329184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Reads meal photos, medical reports &amp; bank statements → auto-logs to correct domain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0352" y="4279392"/>
            <a:ext cx="438912" cy="384048"/>
          </a:xfrm>
          <a:prstGeom prst="roundRect">
            <a:avLst>
              <a:gd name="adj" fmla="val 20000"/>
            </a:avLst>
          </a:prstGeom>
          <a:solidFill>
            <a:srgbClr val="132132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425196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0A5FA"/>
                </a:solidFill>
                <a:latin typeface="Calibri"/>
              </a:rPr>
              <a:t>GEM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2519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Gemini 2.0 Flash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" y="4590288"/>
            <a:ext cx="1085850" cy="203200"/>
          </a:xfrm>
          <a:prstGeom prst="roundRect">
            <a:avLst>
              <a:gd name="adj" fmla="val 50000"/>
            </a:avLst>
          </a:prstGeom>
          <a:solidFill>
            <a:srgbClr val="132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8080" y="4609338"/>
            <a:ext cx="98425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60A5FA"/>
                </a:solidFill>
                <a:latin typeface="Calibri"/>
              </a:rPr>
              <a:t>Backend Proxy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67712" y="425196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Routed through Spring Boot — key never hits the browser; PII stripped before LLM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0352" y="5239512"/>
            <a:ext cx="438912" cy="384048"/>
          </a:xfrm>
          <a:prstGeom prst="roundRect">
            <a:avLst>
              <a:gd name="adj" fmla="val 20000"/>
            </a:avLst>
          </a:prstGeom>
          <a:solidFill>
            <a:srgbClr val="062A2F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521208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2D3EE"/>
                </a:solidFill>
                <a:latin typeface="Calibri"/>
              </a:rPr>
              <a:t>OCR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212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Tesseract.js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" y="5550408"/>
            <a:ext cx="387350" cy="203200"/>
          </a:xfrm>
          <a:prstGeom prst="roundRect">
            <a:avLst>
              <a:gd name="adj" fmla="val 50000"/>
            </a:avLst>
          </a:prstGeom>
          <a:solidFill>
            <a:srgbClr val="06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8080" y="5569458"/>
            <a:ext cx="28575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2D3EE"/>
                </a:solidFill>
                <a:latin typeface="Calibri"/>
              </a:rPr>
              <a:t>OCR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67712" y="521208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In-browser WASM OCR for receipts &amp; scanned PDFs — no server upload needed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0352" y="6199632"/>
            <a:ext cx="438912" cy="384048"/>
          </a:xfrm>
          <a:prstGeom prst="roundRect">
            <a:avLst>
              <a:gd name="adj" fmla="val 20000"/>
            </a:avLst>
          </a:prstGeom>
          <a:solidFill>
            <a:srgbClr val="0E2C19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617220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ADE80"/>
                </a:solidFill>
                <a:latin typeface="Calibri"/>
              </a:rPr>
              <a:t>9×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61722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Deterministic Engines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97280" y="6510528"/>
            <a:ext cx="876300" cy="203200"/>
          </a:xfrm>
          <a:prstGeom prst="roundRect">
            <a:avLst>
              <a:gd name="adj" fmla="val 50000"/>
            </a:avLst>
          </a:prstGeom>
          <a:solidFill>
            <a:srgbClr val="0E2C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8080" y="6529578"/>
            <a:ext cx="7747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ADE80"/>
                </a:solidFill>
                <a:latin typeface="Calibri"/>
              </a:rPr>
              <a:t>Resilience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67712" y="617220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Pure rule-based math — fully functional offline, zero hallucination on scores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26480" y="1463040"/>
            <a:ext cx="5715000" cy="5257800"/>
          </a:xfrm>
          <a:prstGeom prst="roundRect">
            <a:avLst>
              <a:gd name="adj" fmla="val 4000"/>
            </a:avLst>
          </a:prstGeom>
          <a:solidFill>
            <a:srgbClr val="0F0E2A"/>
          </a:solidFill>
          <a:ln w="12700">
            <a:solidFill>
              <a:srgbClr val="242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26480" y="1463040"/>
            <a:ext cx="5715000" cy="25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09360" y="1627632"/>
            <a:ext cx="475488" cy="475488"/>
          </a:xfrm>
          <a:prstGeom prst="roundRect">
            <a:avLst>
              <a:gd name="adj" fmla="val 20000"/>
            </a:avLst>
          </a:prstGeom>
          <a:solidFill>
            <a:srgbClr val="311F02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1609344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59E0B"/>
                </a:solidFill>
                <a:latin typeface="Calibri"/>
              </a:rPr>
              <a:t>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03720" y="1645920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  <a:latin typeface="Calibri"/>
              </a:rPr>
              <a:t>Integrations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32520" y="168249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B5563"/>
                </a:solidFill>
                <a:latin typeface="Calibri"/>
              </a:rPr>
              <a:t>GitHub · Fitbit · Jobs · Nutrition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2176272"/>
            <a:ext cx="5440680" cy="25400"/>
          </a:xfrm>
          <a:prstGeom prst="rect">
            <a:avLst/>
          </a:prstGeom>
          <a:solidFill>
            <a:srgbClr val="24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309360" y="2359152"/>
            <a:ext cx="438912" cy="384048"/>
          </a:xfrm>
          <a:prstGeom prst="roundRect">
            <a:avLst>
              <a:gd name="adj" fmla="val 20000"/>
            </a:avLst>
          </a:prstGeom>
          <a:solidFill>
            <a:srgbClr val="292A2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233172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D1D5DB"/>
                </a:solidFill>
                <a:latin typeface="Calibri"/>
              </a:rPr>
              <a:t>GH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76288" y="23317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GitHub API v3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76288" y="2670048"/>
            <a:ext cx="806450" cy="203200"/>
          </a:xfrm>
          <a:prstGeom prst="roundRect">
            <a:avLst>
              <a:gd name="adj" fmla="val 50000"/>
            </a:avLst>
          </a:prstGeom>
          <a:solidFill>
            <a:srgbClr val="2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27088" y="2689098"/>
            <a:ext cx="70485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D1D5DB"/>
                </a:solidFill>
                <a:latin typeface="Calibri"/>
              </a:rPr>
              <a:t>Developer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46720" y="233172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Real contribution heatmap &amp; language stats → auto-feeds Career Score, no manual input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09360" y="3319272"/>
            <a:ext cx="438912" cy="384048"/>
          </a:xfrm>
          <a:prstGeom prst="roundRect">
            <a:avLst>
              <a:gd name="adj" fmla="val 20000"/>
            </a:avLst>
          </a:prstGeom>
          <a:solidFill>
            <a:srgbClr val="0E2C19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09360" y="329184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ADE80"/>
                </a:solidFill>
                <a:latin typeface="Calibri"/>
              </a:rPr>
              <a:t>FIT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76288" y="32918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Fitbit OAuth 2.0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876288" y="3630168"/>
            <a:ext cx="736600" cy="203200"/>
          </a:xfrm>
          <a:prstGeom prst="roundRect">
            <a:avLst>
              <a:gd name="adj" fmla="val 50000"/>
            </a:avLst>
          </a:prstGeom>
          <a:solidFill>
            <a:srgbClr val="0E2C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27088" y="3649218"/>
            <a:ext cx="635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ADE80"/>
                </a:solidFill>
                <a:latin typeface="Calibri"/>
              </a:rPr>
              <a:t>Wearable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46720" y="329184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Syncs sleep, heart rate &amp; steps into Health Score — eliminates manual logging friction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309360" y="4279392"/>
            <a:ext cx="438912" cy="384048"/>
          </a:xfrm>
          <a:prstGeom prst="roundRect">
            <a:avLst>
              <a:gd name="adj" fmla="val 20000"/>
            </a:avLst>
          </a:prstGeom>
          <a:solidFill>
            <a:srgbClr val="132132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09360" y="425196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0A5FA"/>
                </a:solidFill>
                <a:latin typeface="Calibri"/>
              </a:rPr>
              <a:t>JOB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76288" y="42519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Adzuna + Jooble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876288" y="4590288"/>
            <a:ext cx="876300" cy="203200"/>
          </a:xfrm>
          <a:prstGeom prst="roundRect">
            <a:avLst>
              <a:gd name="adj" fmla="val 50000"/>
            </a:avLst>
          </a:prstGeom>
          <a:solidFill>
            <a:srgbClr val="132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927088" y="4609338"/>
            <a:ext cx="7747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60A5FA"/>
                </a:solidFill>
                <a:latin typeface="Calibri"/>
              </a:rPr>
              <a:t>Job Boards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46720" y="425196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Dual-API proxy for Indian + global listings matched to skill gaps; backend caches quota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309360" y="5239512"/>
            <a:ext cx="438912" cy="384048"/>
          </a:xfrm>
          <a:prstGeom prst="roundRect">
            <a:avLst>
              <a:gd name="adj" fmla="val 20000"/>
            </a:avLst>
          </a:prstGeom>
          <a:solidFill>
            <a:srgbClr val="311604"/>
          </a:solidFill>
          <a:ln w="12700">
            <a:solidFill>
              <a:srgbClr val="F971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09360" y="521208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97116"/>
                </a:solidFill>
                <a:latin typeface="Calibri"/>
              </a:rPr>
              <a:t>NX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76288" y="5212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Nutritionix API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876288" y="5550408"/>
            <a:ext cx="806450" cy="203200"/>
          </a:xfrm>
          <a:prstGeom prst="roundRect">
            <a:avLst>
              <a:gd name="adj" fmla="val 50000"/>
            </a:avLst>
          </a:prstGeom>
          <a:solidFill>
            <a:srgbClr val="311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927088" y="5569458"/>
            <a:ext cx="70485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97116"/>
                </a:solidFill>
                <a:latin typeface="Calibri"/>
              </a:rPr>
              <a:t>Nutrition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46720" y="521208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500k+ foods with accurate macros; Groq fallback when quota exceeded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309360" y="6199632"/>
            <a:ext cx="438912" cy="384048"/>
          </a:xfrm>
          <a:prstGeom prst="roundRect">
            <a:avLst>
              <a:gd name="adj" fmla="val 20000"/>
            </a:avLst>
          </a:prstGeom>
          <a:solidFill>
            <a:srgbClr val="1B1231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617220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B5CF6"/>
                </a:solidFill>
                <a:latin typeface="Calibri"/>
              </a:rPr>
              <a:t>DB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76288" y="61722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876288" y="6510528"/>
            <a:ext cx="946150" cy="203200"/>
          </a:xfrm>
          <a:prstGeom prst="roundRect">
            <a:avLst>
              <a:gd name="adj" fmla="val 50000"/>
            </a:avLst>
          </a:prstGeom>
          <a:solidFill>
            <a:srgbClr val="1B12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927088" y="6529578"/>
            <a:ext cx="84455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8B5CF6"/>
                </a:solidFill>
                <a:latin typeface="Calibri"/>
              </a:rPr>
              <a:t>Persistence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46720" y="617220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Production-grade relational DB with Flyway versioned schema and JPA entities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BeyondSelf —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Offline-first.  Deterministic AI.  Privacy by design.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25400"/>
          </a:xfrm>
          <a:prstGeom prst="rect">
            <a:avLst/>
          </a:prstGeom>
          <a:solidFill>
            <a:srgbClr val="24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11640312" cy="1005840"/>
          </a:xfrm>
          <a:prstGeom prst="rect">
            <a:avLst/>
          </a:prstGeom>
          <a:solidFill>
            <a:srgbClr val="12102A"/>
          </a:solidFill>
          <a:ln w="12700">
            <a:solidFill>
              <a:srgbClr val="242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097280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4B5FD"/>
                </a:solidFill>
                <a:latin typeface="Calibri"/>
              </a:rPr>
              <a:t>EXTERNAL APIs &amp; THIRD-PARTY 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98448"/>
            <a:ext cx="1828800" cy="658368"/>
          </a:xfrm>
          <a:prstGeom prst="roundRect">
            <a:avLst>
              <a:gd name="adj" fmla="val 5000"/>
            </a:avLst>
          </a:prstGeom>
          <a:solidFill>
            <a:srgbClr val="210907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33502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A4335"/>
                </a:solidFill>
                <a:latin typeface="Calibri"/>
              </a:rPr>
              <a:t>Google
Gemini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68249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Vision·NLP·Long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1335024"/>
            <a:ext cx="1295400" cy="177800"/>
          </a:xfrm>
          <a:prstGeom prst="roundRect">
            <a:avLst>
              <a:gd name="adj" fmla="val 50000"/>
            </a:avLst>
          </a:prstGeom>
          <a:solidFill>
            <a:srgbClr val="270B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2400" y="1354074"/>
            <a:ext cx="1193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EA4335"/>
                </a:solidFill>
                <a:latin typeface="Calibri"/>
              </a:rPr>
              <a:t>Server-Side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86584" y="1298448"/>
            <a:ext cx="1828800" cy="658368"/>
          </a:xfrm>
          <a:prstGeom prst="roundRect">
            <a:avLst>
              <a:gd name="adj" fmla="val 5000"/>
            </a:avLst>
          </a:prstGeom>
          <a:solidFill>
            <a:srgbClr val="231003"/>
          </a:solidFill>
          <a:ln w="12700">
            <a:solidFill>
              <a:srgbClr val="F971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59736" y="133502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116"/>
                </a:solidFill>
                <a:latin typeface="Calibri"/>
              </a:rPr>
              <a:t>Groq
Llama 3.3-70b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9736" y="168249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Voice·Nutrition·Career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46704" y="1335024"/>
            <a:ext cx="1155700" cy="177800"/>
          </a:xfrm>
          <a:prstGeom prst="roundRect">
            <a:avLst>
              <a:gd name="adj" fmla="val 50000"/>
            </a:avLst>
          </a:prstGeom>
          <a:solidFill>
            <a:srgbClr val="291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97504" y="1354074"/>
            <a:ext cx="10541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97116"/>
                </a:solidFill>
                <a:latin typeface="Calibri"/>
              </a:rPr>
              <a:t>Fast Inference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1688" y="1298448"/>
            <a:ext cx="1828800" cy="658368"/>
          </a:xfrm>
          <a:prstGeom prst="roundRect">
            <a:avLst>
              <a:gd name="adj" fmla="val 5000"/>
            </a:avLst>
          </a:prstGeom>
          <a:solidFill>
            <a:srgbClr val="24242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33502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GitHub
API v3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168249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Repos·Contribs·Stars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21808" y="1335024"/>
            <a:ext cx="806450" cy="177800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72608" y="1354074"/>
            <a:ext cx="70485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Read Only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298448"/>
            <a:ext cx="1828800" cy="658368"/>
          </a:xfrm>
          <a:prstGeom prst="roundRect">
            <a:avLst>
              <a:gd name="adj" fmla="val 5000"/>
            </a:avLst>
          </a:prstGeom>
          <a:solidFill>
            <a:srgbClr val="0D1723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9944" y="133502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A5FA"/>
                </a:solidFill>
                <a:latin typeface="Calibri"/>
              </a:rPr>
              <a:t>NewsData
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168249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Real-time News·Trends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6912" y="1335024"/>
            <a:ext cx="1016000" cy="177800"/>
          </a:xfrm>
          <a:prstGeom prst="roundRect">
            <a:avLst>
              <a:gd name="adj" fmla="val 50000"/>
            </a:avLst>
          </a:prstGeom>
          <a:solidFill>
            <a:srgbClr val="10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47712" y="1354074"/>
            <a:ext cx="9144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60A5FA"/>
                </a:solidFill>
                <a:latin typeface="Calibri"/>
              </a:rPr>
              <a:t>Live Updates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11896" y="1298448"/>
            <a:ext cx="1828800" cy="658368"/>
          </a:xfrm>
          <a:prstGeom prst="roundRect">
            <a:avLst>
              <a:gd name="adj" fmla="val 5000"/>
            </a:avLst>
          </a:prstGeom>
          <a:solidFill>
            <a:srgbClr val="0A1F12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5048" y="133502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DE80"/>
                </a:solidFill>
                <a:latin typeface="Calibri"/>
              </a:rPr>
              <a:t>Adzuna/
Jsearch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5048" y="168249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Jobs·Salary·Market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72016" y="1335024"/>
            <a:ext cx="876300" cy="177800"/>
          </a:xfrm>
          <a:prstGeom prst="roundRect">
            <a:avLst>
              <a:gd name="adj" fmla="val 50000"/>
            </a:avLst>
          </a:prstGeom>
          <a:solidFill>
            <a:srgbClr val="0C2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2816" y="1354074"/>
            <a:ext cx="7747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4ADE80"/>
                </a:solidFill>
                <a:latin typeface="Calibri"/>
              </a:rPr>
              <a:t>Aggregated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87000" y="1298448"/>
            <a:ext cx="1828800" cy="658368"/>
          </a:xfrm>
          <a:prstGeom prst="roundRect">
            <a:avLst>
              <a:gd name="adj" fmla="val 5000"/>
            </a:avLst>
          </a:prstGeom>
          <a:solidFill>
            <a:srgbClr val="041E22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60152" y="133502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Calibri"/>
              </a:rPr>
              <a:t>Paisa
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60152" y="168249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Finance·MutualFunds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247120" y="1335024"/>
            <a:ext cx="806450" cy="177800"/>
          </a:xfrm>
          <a:prstGeom prst="roundRect">
            <a:avLst>
              <a:gd name="adj" fmla="val 50000"/>
            </a:avLst>
          </a:prstGeom>
          <a:solidFill>
            <a:srgbClr val="052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297920" y="1354074"/>
            <a:ext cx="70485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22D3EE"/>
                </a:solidFill>
                <a:latin typeface="Calibri"/>
              </a:rPr>
              <a:t>Read Only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" y="2148840"/>
            <a:ext cx="2834640" cy="3108960"/>
          </a:xfrm>
          <a:prstGeom prst="roundRect">
            <a:avLst>
              <a:gd name="adj" fmla="val 4000"/>
            </a:avLst>
          </a:prstGeom>
          <a:solidFill>
            <a:srgbClr val="101B29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2148840"/>
            <a:ext cx="2834640" cy="3175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2240280"/>
            <a:ext cx="26151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  <a:latin typeface="Calibri"/>
              </a:rPr>
              <a:t>1. DATA INPUTS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" y="2660904"/>
            <a:ext cx="26151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From user &amp; connected sources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" y="2898648"/>
            <a:ext cx="2615184" cy="25400"/>
          </a:xfrm>
          <a:prstGeom prst="rect">
            <a:avLst/>
          </a:prstGeom>
          <a:solidFill>
            <a:srgbClr val="24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84048" y="3017520"/>
            <a:ext cx="2615184" cy="384048"/>
          </a:xfrm>
          <a:prstGeom prst="roundRect">
            <a:avLst>
              <a:gd name="adj" fmla="val 4000"/>
            </a:avLst>
          </a:prstGeom>
          <a:solidFill>
            <a:srgbClr val="0A1F12"/>
          </a:solidFill>
          <a:ln w="1016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305409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DE80"/>
                </a:solidFill>
                <a:latin typeface="Calibri"/>
              </a:rPr>
              <a:t>Health Data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63040" y="3054096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Sleep, Stress, Activity, HRV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4048" y="3474720"/>
            <a:ext cx="2615184" cy="384048"/>
          </a:xfrm>
          <a:prstGeom prst="roundRect">
            <a:avLst>
              <a:gd name="adj" fmla="val 4000"/>
            </a:avLst>
          </a:prstGeom>
          <a:solidFill>
            <a:srgbClr val="231601"/>
          </a:solidFill>
          <a:ln w="1016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5488" y="351129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Finance Data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63040" y="3511296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Income, Expenses, Savings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84048" y="3931920"/>
            <a:ext cx="2615184" cy="384048"/>
          </a:xfrm>
          <a:prstGeom prst="roundRect">
            <a:avLst>
              <a:gd name="adj" fmla="val 4000"/>
            </a:avLst>
          </a:prstGeom>
          <a:solidFill>
            <a:srgbClr val="0D1723"/>
          </a:solidFill>
          <a:ln w="1016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396849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A5FA"/>
                </a:solidFill>
                <a:latin typeface="Calibri"/>
              </a:rPr>
              <a:t>Career Data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63040" y="3968496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Role, Skills, Goals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84048" y="4389120"/>
            <a:ext cx="2615184" cy="384048"/>
          </a:xfrm>
          <a:prstGeom prst="roundRect">
            <a:avLst>
              <a:gd name="adj" fmla="val 4000"/>
            </a:avLst>
          </a:prstGeom>
          <a:solidFill>
            <a:srgbClr val="210A15"/>
          </a:solidFill>
          <a:ln w="1016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5488" y="442569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C4899"/>
                </a:solidFill>
                <a:latin typeface="Calibri"/>
              </a:rPr>
              <a:t>Wearables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63040" y="4425696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Steps, HR, Calories, Sleep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84048" y="4846320"/>
            <a:ext cx="2615184" cy="384048"/>
          </a:xfrm>
          <a:prstGeom prst="roundRect">
            <a:avLst>
              <a:gd name="adj" fmla="val 4000"/>
            </a:avLst>
          </a:prstGeom>
          <a:solidFill>
            <a:srgbClr val="15171A"/>
          </a:solidFill>
          <a:ln w="1016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5488" y="488289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Documents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63040" y="4882896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Resumes, Reports, PDFs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264408" y="2148840"/>
            <a:ext cx="2834640" cy="3108960"/>
          </a:xfrm>
          <a:prstGeom prst="roundRect">
            <a:avLst>
              <a:gd name="adj" fmla="val 4000"/>
            </a:avLst>
          </a:prstGeom>
          <a:solidFill>
            <a:srgbClr val="170F29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264408" y="2148840"/>
            <a:ext cx="2834640" cy="317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74136" y="2240280"/>
            <a:ext cx="26151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2. BEYONDSELF
CORE ENGINE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74136" y="2660904"/>
            <a:ext cx="26151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Deterministic · Explainable · Reliable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374136" y="2898648"/>
            <a:ext cx="2615184" cy="25400"/>
          </a:xfrm>
          <a:prstGeom prst="rect">
            <a:avLst/>
          </a:prstGeom>
          <a:solidFill>
            <a:srgbClr val="24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3374136" y="3017520"/>
            <a:ext cx="2615184" cy="384048"/>
          </a:xfrm>
          <a:prstGeom prst="roundRect">
            <a:avLst>
              <a:gd name="adj" fmla="val 4000"/>
            </a:avLst>
          </a:prstGeom>
          <a:solidFill>
            <a:srgbClr val="130D23"/>
          </a:solidFill>
          <a:ln w="1016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465576" y="305409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  <a:latin typeface="Calibri"/>
              </a:rPr>
              <a:t>9 AI Engines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53128" y="3054096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Health·Finance·Career
Sleep·Burnout·Anomaly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374136" y="3474720"/>
            <a:ext cx="2615184" cy="384048"/>
          </a:xfrm>
          <a:prstGeom prst="roundRect">
            <a:avLst>
              <a:gd name="adj" fmla="val 4000"/>
            </a:avLst>
          </a:prstGeom>
          <a:solidFill>
            <a:srgbClr val="041E22"/>
          </a:solidFill>
          <a:ln w="1016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465576" y="351129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Calibri"/>
              </a:rPr>
              <a:t>Cross-Domain
Cascades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53128" y="3511296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Inputs → Cascade Engine
→ Life Score 0–100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254496" y="2148840"/>
            <a:ext cx="2834640" cy="3108960"/>
          </a:xfrm>
          <a:prstGeom prst="roundRect">
            <a:avLst>
              <a:gd name="adj" fmla="val 4000"/>
            </a:avLst>
          </a:prstGeom>
          <a:solidFill>
            <a:srgbClr val="0C2515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254496" y="2148840"/>
            <a:ext cx="2834640" cy="3175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64224" y="2240280"/>
            <a:ext cx="26151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  <a:latin typeface="Calibri"/>
              </a:rPr>
              <a:t>3. BACKEND
SERVICES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64224" y="2660904"/>
            <a:ext cx="26151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Spring Boot · REST · Secure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64224" y="2898648"/>
            <a:ext cx="2615184" cy="25400"/>
          </a:xfrm>
          <a:prstGeom prst="rect">
            <a:avLst/>
          </a:prstGeom>
          <a:solidFill>
            <a:srgbClr val="24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364224" y="3017520"/>
            <a:ext cx="2615184" cy="384048"/>
          </a:xfrm>
          <a:prstGeom prst="roundRect">
            <a:avLst>
              <a:gd name="adj" fmla="val 4000"/>
            </a:avLst>
          </a:prstGeom>
          <a:solidFill>
            <a:srgbClr val="0D1723"/>
          </a:solidFill>
          <a:ln w="1016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55664" y="305409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A5FA"/>
                </a:solidFill>
                <a:latin typeface="Calibri"/>
              </a:rPr>
              <a:t>API Gateway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43216" y="3054096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Routing·Rate Limiting·Auth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364224" y="3474720"/>
            <a:ext cx="2615184" cy="384048"/>
          </a:xfrm>
          <a:prstGeom prst="roundRect">
            <a:avLst>
              <a:gd name="adj" fmla="val 4000"/>
            </a:avLst>
          </a:prstGeom>
          <a:solidFill>
            <a:srgbClr val="0A1F12"/>
          </a:solidFill>
          <a:ln w="1016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55664" y="351129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DE80"/>
                </a:solidFill>
                <a:latin typeface="Calibri"/>
              </a:rPr>
              <a:t>Core Services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43216" y="3511296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User·Score·Timeline·Coach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364224" y="3931920"/>
            <a:ext cx="2615184" cy="384048"/>
          </a:xfrm>
          <a:prstGeom prst="roundRect">
            <a:avLst>
              <a:gd name="adj" fmla="val 4000"/>
            </a:avLst>
          </a:prstGeom>
          <a:solidFill>
            <a:srgbClr val="021A12"/>
          </a:solidFill>
          <a:ln w="1016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55664" y="396849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Data Services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443216" y="3968496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CRUD·Sync·Cache·Search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364224" y="4389120"/>
            <a:ext cx="2615184" cy="384048"/>
          </a:xfrm>
          <a:prstGeom prst="roundRect">
            <a:avLst>
              <a:gd name="adj" fmla="val 4000"/>
            </a:avLst>
          </a:prstGeom>
          <a:solidFill>
            <a:srgbClr val="231601"/>
          </a:solidFill>
          <a:ln w="1016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55664" y="442569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File Upload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43216" y="4425696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CSV·PDF·Images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364224" y="4846320"/>
            <a:ext cx="2615184" cy="384048"/>
          </a:xfrm>
          <a:prstGeom prst="roundRect">
            <a:avLst>
              <a:gd name="adj" fmla="val 4000"/>
            </a:avLst>
          </a:prstGeom>
          <a:solidFill>
            <a:srgbClr val="231003"/>
          </a:solidFill>
          <a:ln w="10160">
            <a:solidFill>
              <a:srgbClr val="F971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55664" y="488289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116"/>
                </a:solidFill>
                <a:latin typeface="Calibri"/>
              </a:rPr>
              <a:t>Notification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43216" y="4882896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Reminders·Alerts·Digest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244584" y="2148840"/>
            <a:ext cx="2834640" cy="3108960"/>
          </a:xfrm>
          <a:prstGeom prst="roundRect">
            <a:avLst>
              <a:gd name="adj" fmla="val 4000"/>
            </a:avLst>
          </a:prstGeom>
          <a:solidFill>
            <a:srgbClr val="291203"/>
          </a:solidFill>
          <a:ln w="19050">
            <a:solidFill>
              <a:srgbClr val="F971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244584" y="2148840"/>
            <a:ext cx="2834640" cy="31750"/>
          </a:xfrm>
          <a:prstGeom prst="rect">
            <a:avLst/>
          </a:prstGeom>
          <a:solidFill>
            <a:srgbClr val="F97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354312" y="2240280"/>
            <a:ext cx="26151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116"/>
                </a:solidFill>
                <a:latin typeface="Calibri"/>
              </a:rPr>
              <a:t>4. EXPERIENCE
LAYER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354312" y="2660904"/>
            <a:ext cx="26151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Real insights. Real impact.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354312" y="2898648"/>
            <a:ext cx="2615184" cy="25400"/>
          </a:xfrm>
          <a:prstGeom prst="rect">
            <a:avLst/>
          </a:prstGeom>
          <a:solidFill>
            <a:srgbClr val="24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9354312" y="3017520"/>
            <a:ext cx="2615184" cy="384048"/>
          </a:xfrm>
          <a:prstGeom prst="roundRect">
            <a:avLst>
              <a:gd name="adj" fmla="val 4000"/>
            </a:avLst>
          </a:prstGeom>
          <a:solidFill>
            <a:srgbClr val="130D23"/>
          </a:solidFill>
          <a:ln w="1016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445752" y="305409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  <a:latin typeface="Calibri"/>
              </a:rPr>
              <a:t>Life Score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433304" y="3054096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Single score across domains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354312" y="3474720"/>
            <a:ext cx="2615184" cy="384048"/>
          </a:xfrm>
          <a:prstGeom prst="roundRect">
            <a:avLst>
              <a:gd name="adj" fmla="val 4000"/>
            </a:avLst>
          </a:prstGeom>
          <a:solidFill>
            <a:srgbClr val="041E22"/>
          </a:solidFill>
          <a:ln w="1016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445752" y="351129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Calibri"/>
              </a:rPr>
              <a:t>Timeline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433304" y="3511296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Track progress over time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354312" y="3931920"/>
            <a:ext cx="2615184" cy="384048"/>
          </a:xfrm>
          <a:prstGeom prst="roundRect">
            <a:avLst>
              <a:gd name="adj" fmla="val 4000"/>
            </a:avLst>
          </a:prstGeom>
          <a:solidFill>
            <a:srgbClr val="0A1F12"/>
          </a:solidFill>
          <a:ln w="1016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445752" y="396849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DE80"/>
                </a:solidFill>
                <a:latin typeface="Calibri"/>
              </a:rPr>
              <a:t>AI Insights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433304" y="3968496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Personalised, actionable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354312" y="4389120"/>
            <a:ext cx="2615184" cy="384048"/>
          </a:xfrm>
          <a:prstGeom prst="roundRect">
            <a:avLst>
              <a:gd name="adj" fmla="val 4000"/>
            </a:avLst>
          </a:prstGeom>
          <a:solidFill>
            <a:srgbClr val="231601"/>
          </a:solidFill>
          <a:ln w="1016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445752" y="442569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Simulator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433304" y="4425696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What-if scenarios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9354312" y="4846320"/>
            <a:ext cx="2615184" cy="384048"/>
          </a:xfrm>
          <a:prstGeom prst="roundRect">
            <a:avLst>
              <a:gd name="adj" fmla="val 4000"/>
            </a:avLst>
          </a:prstGeom>
          <a:solidFill>
            <a:srgbClr val="231003"/>
          </a:solidFill>
          <a:ln w="10160">
            <a:solidFill>
              <a:srgbClr val="F971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445752" y="488289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116"/>
                </a:solidFill>
                <a:latin typeface="Calibri"/>
              </a:rPr>
              <a:t>Coach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433304" y="4882896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AI guidance &amp; nudges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1932920" y="2148840"/>
            <a:ext cx="228600" cy="3108960"/>
          </a:xfrm>
          <a:prstGeom prst="rect">
            <a:avLst/>
          </a:prstGeom>
          <a:solidFill>
            <a:srgbClr val="24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921240" y="217627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  <a:latin typeface="Calibri"/>
              </a:rPr>
              <a:t>🔐 SECURITY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921240" y="24871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✓ JWT Auth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921240" y="290779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✓ BCrypt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921240" y="332841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✓ CORS Config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21240" y="37490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✓ Input Validation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921240" y="416966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✓ Rate Limiting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921240" y="45902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✓ PII Protection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74320" y="5349240"/>
            <a:ext cx="11640312" cy="1234440"/>
          </a:xfrm>
          <a:prstGeom prst="rect">
            <a:avLst/>
          </a:prstGeom>
          <a:solidFill>
            <a:srgbClr val="12102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74320" y="5349240"/>
            <a:ext cx="11640312" cy="317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11480" y="5394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5. DATA &amp; INFRASTRUCTURE LAYER  ·  Offline-first · Secure · Scalable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1480" y="568756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PostgreSQL (Port 5432)  ·  users · health_records · finance_records · career_records · goals · transactions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11480" y="598932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LocalStorage · Schema v2+ auto-migration · storageAdapter.js · cross-tab sync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217920" y="53949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ADE80"/>
                </a:solidFill>
                <a:latin typeface="Calibri"/>
              </a:rPr>
              <a:t>Offline First
Works anywhere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680960" y="53949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B5CF6"/>
                </a:solidFill>
                <a:latin typeface="Calibri"/>
              </a:rPr>
              <a:t>Deterministic AI
Consistent every time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326880" y="53949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2D3EE"/>
                </a:solidFill>
                <a:latin typeface="Calibri"/>
              </a:rPr>
              <a:t>Privacy By Design
Your data, your control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972800" y="53949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B"/>
                </a:solidFill>
                <a:latin typeface="Calibri"/>
              </a:rPr>
              <a:t>Demo Proof
No internet, still works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531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C72FF"/>
                </a:solidFill>
                <a:latin typeface="Calibri"/>
              </a:rPr>
              <a:t>NOVELTY &amp; INNOVATION  ·  CHALLENGES &amp; BREAKTHROUGHS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97116"/>
                </a:solidFill>
                <a:latin typeface="Calibri"/>
              </a:rPr>
              <a:t>What Hit 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411480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4B5FD"/>
                </a:solidFill>
                <a:latin typeface="Calibri"/>
              </a:rPr>
              <a:t>  How We Broke Through.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45752" y="137160"/>
            <a:ext cx="2468880" cy="347472"/>
          </a:xfrm>
          <a:prstGeom prst="roundRect">
            <a:avLst>
              <a:gd name="adj" fmla="val 40000"/>
            </a:avLst>
          </a:prstGeom>
          <a:solidFill>
            <a:srgbClr val="100E28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37192" y="1645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4ADE80"/>
                </a:solidFill>
                <a:latin typeface="Calibri"/>
              </a:rPr>
              <a:t>● ALL 5 BREAKTHROUGHS SHIPPED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1556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  <a:latin typeface="Calibri"/>
              </a:rPr>
              <a:t>⚡  WHAT HIT US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53312"/>
            <a:ext cx="5394960" cy="190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1556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5CF6"/>
                </a:solidFill>
                <a:latin typeface="Calibri"/>
              </a:rPr>
              <a:t>✦  HOW WE BROKE THROUGH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53312"/>
            <a:ext cx="5394960" cy="190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1444752"/>
            <a:ext cx="5394960" cy="914400"/>
          </a:xfrm>
          <a:prstGeom prst="roundRect">
            <a:avLst>
              <a:gd name="adj" fmla="val 4000"/>
            </a:avLst>
          </a:prstGeom>
          <a:solidFill>
            <a:srgbClr val="281A01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444752"/>
            <a:ext cx="5394960" cy="190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517904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D2702"/>
                </a:solidFill>
                <a:latin typeface="Calibri"/>
              </a:rPr>
              <a:t>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1554480"/>
            <a:ext cx="402336" cy="402336"/>
          </a:xfrm>
          <a:prstGeom prst="roundRect">
            <a:avLst>
              <a:gd name="adj" fmla="val 20000"/>
            </a:avLst>
          </a:prstGeom>
          <a:solidFill>
            <a:srgbClr val="311F02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153619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153619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Data Fragmentation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184708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Fitbit · bank slips · lab reports · LinkedIn — all disconnected silos.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17190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B5563"/>
                </a:solidFill>
                <a:latin typeface="Calibri"/>
              </a:rPr>
              <a:t>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20116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4B5563"/>
                </a:solidFill>
                <a:latin typeface="Calibri"/>
              </a:rPr>
              <a:t>SOLVED BY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444752"/>
            <a:ext cx="5394960" cy="914400"/>
          </a:xfrm>
          <a:prstGeom prst="roundRect">
            <a:avLst>
              <a:gd name="adj" fmla="val 4000"/>
            </a:avLst>
          </a:prstGeom>
          <a:solidFill>
            <a:srgbClr val="0C2515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444752"/>
            <a:ext cx="5394960" cy="1905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73952" y="1554480"/>
            <a:ext cx="402336" cy="402336"/>
          </a:xfrm>
          <a:prstGeom prst="roundRect">
            <a:avLst>
              <a:gd name="adj" fmla="val 20000"/>
            </a:avLst>
          </a:prstGeom>
          <a:solidFill>
            <a:srgbClr val="0E2C19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153619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1536192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  <a:latin typeface="Calibri"/>
              </a:rPr>
              <a:t>Unified Feed Parser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184708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Voice + PDF + Photo → 1 Digital Twin. ocrService · resumeService · voiceLogService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2468880"/>
            <a:ext cx="5394960" cy="914400"/>
          </a:xfrm>
          <a:prstGeom prst="roundRect">
            <a:avLst>
              <a:gd name="adj" fmla="val 4000"/>
            </a:avLst>
          </a:prstGeom>
          <a:solidFill>
            <a:srgbClr val="291203"/>
          </a:solidFill>
          <a:ln w="12700">
            <a:solidFill>
              <a:srgbClr val="F971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2468880"/>
            <a:ext cx="5394960" cy="19050"/>
          </a:xfrm>
          <a:prstGeom prst="rect">
            <a:avLst/>
          </a:prstGeom>
          <a:solidFill>
            <a:srgbClr val="F97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" y="2542032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E1C05"/>
                </a:solidFill>
                <a:latin typeface="Calibri"/>
              </a:rPr>
              <a:t>02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2" y="2578608"/>
            <a:ext cx="402336" cy="402336"/>
          </a:xfrm>
          <a:prstGeom prst="roundRect">
            <a:avLst>
              <a:gd name="adj" fmla="val 20000"/>
            </a:avLst>
          </a:prstGeom>
          <a:solidFill>
            <a:srgbClr val="311604"/>
          </a:solidFill>
          <a:ln w="12700">
            <a:solidFill>
              <a:srgbClr val="F971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256032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🕸️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256032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116"/>
                </a:solidFill>
                <a:latin typeface="Calibri"/>
              </a:rPr>
              <a:t>Cross-Domain Blindness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2871216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Health, Finance, Career in isolation. No app modelled cause-effect chains.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27432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B5563"/>
                </a:solidFill>
                <a:latin typeface="Calibri"/>
              </a:rPr>
              <a:t>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0" y="303580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4B5563"/>
                </a:solidFill>
                <a:latin typeface="Calibri"/>
              </a:rPr>
              <a:t>SOLVED BY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2468880"/>
            <a:ext cx="5394960" cy="914400"/>
          </a:xfrm>
          <a:prstGeom prst="roundRect">
            <a:avLst>
              <a:gd name="adj" fmla="val 4000"/>
            </a:avLst>
          </a:prstGeom>
          <a:solidFill>
            <a:srgbClr val="101B29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2468880"/>
            <a:ext cx="5394960" cy="1905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73952" y="2578608"/>
            <a:ext cx="402336" cy="402336"/>
          </a:xfrm>
          <a:prstGeom prst="roundRect">
            <a:avLst>
              <a:gd name="adj" fmla="val 20000"/>
            </a:avLst>
          </a:prstGeom>
          <a:solidFill>
            <a:srgbClr val="132132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73952" y="256032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🗺️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256032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Calibri"/>
              </a:rPr>
              <a:t>Cascade Map Engine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287121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Real cross-domain simulation. Salary↑→Sleep↓→Health↓→Output↓. simulatorEngine.js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1480" y="3493008"/>
            <a:ext cx="5394960" cy="914400"/>
          </a:xfrm>
          <a:prstGeom prst="roundRect">
            <a:avLst>
              <a:gd name="adj" fmla="val 4000"/>
            </a:avLst>
          </a:prstGeom>
          <a:solidFill>
            <a:srgbClr val="170F29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" y="3493008"/>
            <a:ext cx="5394960" cy="190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356616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2173D"/>
                </a:solidFill>
                <a:latin typeface="Calibri"/>
              </a:rPr>
              <a:t>03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6112" y="3602736"/>
            <a:ext cx="402336" cy="402336"/>
          </a:xfrm>
          <a:prstGeom prst="roundRect">
            <a:avLst>
              <a:gd name="adj" fmla="val 20000"/>
            </a:avLst>
          </a:prstGeom>
          <a:solidFill>
            <a:srgbClr val="1B1231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358444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🎙️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358444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alibri"/>
              </a:rPr>
              <a:t>Smart Input Classification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3895344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'₹450 on medicine' — Health? Finance? Both? All tagging was manual.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52160" y="376732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B5563"/>
                </a:solidFill>
                <a:latin typeface="Calibri"/>
              </a:rPr>
              <a:t>▶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15000" y="405993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4B5563"/>
                </a:solidFill>
                <a:latin typeface="Calibri"/>
              </a:rPr>
              <a:t>SOLVED BY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3493008"/>
            <a:ext cx="5394960" cy="914400"/>
          </a:xfrm>
          <a:prstGeom prst="roundRect">
            <a:avLst>
              <a:gd name="adj" fmla="val 4000"/>
            </a:avLst>
          </a:prstGeom>
          <a:solidFill>
            <a:srgbClr val="021E15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00800" y="3493008"/>
            <a:ext cx="5394960" cy="19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473952" y="3602736"/>
            <a:ext cx="402336" cy="402336"/>
          </a:xfrm>
          <a:prstGeom prst="roundRect">
            <a:avLst>
              <a:gd name="adj" fmla="val 20000"/>
            </a:avLst>
          </a:prstGeom>
          <a:solidFill>
            <a:srgbClr val="032519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73952" y="358444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0" y="3584448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Universal AI Mic + Parser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49440" y="389534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Groq llama-3.3-70b detects domain, action &amp; amount. Zero manual tags.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11480" y="4517136"/>
            <a:ext cx="5394960" cy="914400"/>
          </a:xfrm>
          <a:prstGeom prst="roundRect">
            <a:avLst>
              <a:gd name="adj" fmla="val 4000"/>
            </a:avLst>
          </a:prstGeom>
          <a:solidFill>
            <a:srgbClr val="270B0B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11480" y="4517136"/>
            <a:ext cx="5394960" cy="190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5488" y="4590288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B1111"/>
                </a:solidFill>
                <a:latin typeface="Calibri"/>
              </a:rPr>
              <a:t>04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6112" y="4626864"/>
            <a:ext cx="402336" cy="402336"/>
          </a:xfrm>
          <a:prstGeom prst="roundRect">
            <a:avLst>
              <a:gd name="adj" fmla="val 20000"/>
            </a:avLst>
          </a:prstGeom>
          <a:solidFill>
            <a:srgbClr val="2F0D0D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6112" y="460857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71600" y="460857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Privacy Exposure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71600" y="4919472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Raw sensitive data — names, accounts, phones — sent directly to AI models.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52160" y="479145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B5563"/>
                </a:solidFill>
                <a:latin typeface="Calibri"/>
              </a:rPr>
              <a:t>▶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15000" y="5084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4B5563"/>
                </a:solidFill>
                <a:latin typeface="Calibri"/>
              </a:rPr>
              <a:t>SOLVED BY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0" y="4517136"/>
            <a:ext cx="5394960" cy="914400"/>
          </a:xfrm>
          <a:prstGeom prst="roundRect">
            <a:avLst>
              <a:gd name="adj" fmla="val 4000"/>
            </a:avLst>
          </a:prstGeom>
          <a:solidFill>
            <a:srgbClr val="052327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400800" y="4517136"/>
            <a:ext cx="5394960" cy="190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473952" y="4626864"/>
            <a:ext cx="402336" cy="402336"/>
          </a:xfrm>
          <a:prstGeom prst="roundRect">
            <a:avLst>
              <a:gd name="adj" fmla="val 20000"/>
            </a:avLst>
          </a:prstGeom>
          <a:solidFill>
            <a:srgbClr val="062A2F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73952" y="460857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🛡️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49440" y="4608576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PII Shield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49440" y="49194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stripPII() fires before every AI call. Identity never reaches the model.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11480" y="5541264"/>
            <a:ext cx="5394960" cy="914400"/>
          </a:xfrm>
          <a:prstGeom prst="roundRect">
            <a:avLst>
              <a:gd name="adj" fmla="val 4000"/>
            </a:avLst>
          </a:prstGeom>
          <a:solidFill>
            <a:srgbClr val="291203"/>
          </a:solidFill>
          <a:ln w="12700">
            <a:solidFill>
              <a:srgbClr val="F971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11480" y="5541264"/>
            <a:ext cx="5394960" cy="19050"/>
          </a:xfrm>
          <a:prstGeom prst="rect">
            <a:avLst/>
          </a:prstGeom>
          <a:solidFill>
            <a:srgbClr val="F97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5488" y="5614416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E1C05"/>
                </a:solidFill>
                <a:latin typeface="Calibri"/>
              </a:rPr>
              <a:t>05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96112" y="5650992"/>
            <a:ext cx="402336" cy="402336"/>
          </a:xfrm>
          <a:prstGeom prst="roundRect">
            <a:avLst>
              <a:gd name="adj" fmla="val 20000"/>
            </a:avLst>
          </a:prstGeom>
          <a:solidFill>
            <a:srgbClr val="311604"/>
          </a:solidFill>
          <a:ln w="12700">
            <a:solidFill>
              <a:srgbClr val="F971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96112" y="563270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❓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371600" y="563270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116"/>
                </a:solidFill>
                <a:latin typeface="Calibri"/>
              </a:rPr>
              <a:t>Prediction Uncertainty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71600" y="594360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12-month forecasts shown with same confidence as 1-month ones. System lied.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852160" y="581558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B5563"/>
                </a:solidFill>
                <a:latin typeface="Calibri"/>
              </a:rPr>
              <a:t>▶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715000" y="610819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4B5563"/>
                </a:solidFill>
                <a:latin typeface="Calibri"/>
              </a:rPr>
              <a:t>SOLVED BY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400800" y="5541264"/>
            <a:ext cx="5394960" cy="914400"/>
          </a:xfrm>
          <a:prstGeom prst="roundRect">
            <a:avLst>
              <a:gd name="adj" fmla="val 4000"/>
            </a:avLst>
          </a:prstGeom>
          <a:solidFill>
            <a:srgbClr val="201E2A"/>
          </a:solidFill>
          <a:ln w="12700">
            <a:solidFill>
              <a:srgbClr val="C4B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400800" y="5541264"/>
            <a:ext cx="5394960" cy="19050"/>
          </a:xfrm>
          <a:prstGeom prst="rect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6473952" y="5650992"/>
            <a:ext cx="402336" cy="402336"/>
          </a:xfrm>
          <a:prstGeom prst="roundRect">
            <a:avLst>
              <a:gd name="adj" fmla="val 20000"/>
            </a:avLst>
          </a:prstGeom>
          <a:solidFill>
            <a:srgbClr val="272432"/>
          </a:solidFill>
          <a:ln w="12700">
            <a:solidFill>
              <a:srgbClr val="C4B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73952" y="563270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949440" y="5632704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4B5FD"/>
                </a:solidFill>
                <a:latin typeface="Calibri"/>
              </a:rPr>
              <a:t>Neural Core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949440" y="59436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Confidence decay: 1mo 92% · 3mo 85% · 6mo 73% · 12mo 48%. Honest AI.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11480" y="6492240"/>
            <a:ext cx="11365992" cy="292608"/>
          </a:xfrm>
          <a:prstGeom prst="rect">
            <a:avLst/>
          </a:prstGeom>
          <a:solidFill>
            <a:srgbClr val="100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02920" y="6510528"/>
            <a:ext cx="6858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💡 Building a Personal Digital Twin isn't about tracking data — it's about connecting every life decision into one intelligent system.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589520" y="646480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B5CF6"/>
                </a:solidFill>
                <a:latin typeface="Calibri"/>
              </a:rPr>
              <a:t>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406640" y="6620256"/>
            <a:ext cx="1097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4B5563"/>
                </a:solidFill>
                <a:latin typeface="Calibri"/>
              </a:rPr>
              <a:t>Breakthroughs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705088" y="646480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B5CF6"/>
                </a:solidFill>
                <a:latin typeface="Calibri"/>
              </a:rPr>
              <a:t>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522208" y="6620256"/>
            <a:ext cx="1097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4B5563"/>
                </a:solidFill>
                <a:latin typeface="Calibri"/>
              </a:rPr>
              <a:t>PII to AI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820656" y="646480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B5CF6"/>
                </a:solidFill>
                <a:latin typeface="Calibri"/>
              </a:rPr>
              <a:t>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637776" y="6620256"/>
            <a:ext cx="1097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4B5563"/>
                </a:solidFill>
                <a:latin typeface="Calibri"/>
              </a:rPr>
              <a:t>Domains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936224" y="646480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B5CF6"/>
                </a:solidFill>
                <a:latin typeface="Calibri"/>
              </a:rP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753344" y="6620256"/>
            <a:ext cx="1097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4B5563"/>
                </a:solidFill>
                <a:latin typeface="Calibri"/>
              </a:rPr>
              <a:t>Manual Tags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988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57ECB"/>
                </a:solidFill>
                <a:latin typeface="Calibri"/>
              </a:rPr>
              <a:t>THE TEAM  ·  BUILT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8988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Meet the Builders.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BeyondSelf — Personal Digital Twin  ·  4 June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74552" cy="25400"/>
          </a:xfrm>
          <a:prstGeom prst="rect">
            <a:avLst/>
          </a:prstGeom>
          <a:solidFill>
            <a:srgbClr val="24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91472" y="182880"/>
            <a:ext cx="2377440" cy="320040"/>
          </a:xfrm>
          <a:prstGeom prst="roundRect">
            <a:avLst>
              <a:gd name="adj" fmla="val 40000"/>
            </a:avLst>
          </a:prstGeom>
          <a:solidFill>
            <a:srgbClr val="1A1838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82912" y="2011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4B5FD"/>
                </a:solidFill>
                <a:latin typeface="Calibri"/>
              </a:rPr>
              <a:t>BeyondSelf · Digital Twin</a:t>
            </a:r>
          </a:p>
        </p:txBody>
      </p:sp>
      <p:sp>
        <p:nvSpPr>
          <p:cNvPr id="8" name="Oval 7"/>
          <p:cNvSpPr/>
          <p:nvPr/>
        </p:nvSpPr>
        <p:spPr>
          <a:xfrm>
            <a:off x="1508760" y="1508760"/>
            <a:ext cx="1920240" cy="1920240"/>
          </a:xfrm>
          <a:prstGeom prst="ellipse">
            <a:avLst/>
          </a:prstGeom>
          <a:solidFill>
            <a:srgbClr val="1B1231"/>
          </a:solidFill>
          <a:ln w="317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25880" y="1325880"/>
            <a:ext cx="2286000" cy="2286000"/>
          </a:xfrm>
          <a:prstGeom prst="ellipse">
            <a:avLst/>
          </a:prstGeom>
          <a:noFill/>
          <a:ln w="19050">
            <a:solidFill>
              <a:srgbClr val="2E1E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16459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8B5CF6"/>
                </a:solidFill>
                <a:latin typeface="Calibri"/>
              </a:rPr>
              <a:t>KB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Khushi Bansal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416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B5CF6"/>
                </a:solidFill>
                <a:latin typeface="Calibri"/>
              </a:rPr>
              <a:t>Full-Stack &amp; AI Lead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480560"/>
            <a:ext cx="1389888" cy="347472"/>
          </a:xfrm>
          <a:prstGeom prst="roundRect">
            <a:avLst>
              <a:gd name="adj" fmla="val 30000"/>
            </a:avLst>
          </a:prstGeom>
          <a:solidFill>
            <a:srgbClr val="1B1231"/>
          </a:solidFill>
          <a:ln w="1016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480560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B5CF6"/>
                </a:solidFill>
                <a:latin typeface="Calibri"/>
              </a:rPr>
              <a:t>React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96312" y="4480560"/>
            <a:ext cx="1389888" cy="347472"/>
          </a:xfrm>
          <a:prstGeom prst="roundRect">
            <a:avLst>
              <a:gd name="adj" fmla="val 30000"/>
            </a:avLst>
          </a:prstGeom>
          <a:solidFill>
            <a:srgbClr val="1B1231"/>
          </a:solidFill>
          <a:ln w="1016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96312" y="4480560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B5CF6"/>
                </a:solidFill>
                <a:latin typeface="Calibri"/>
              </a:rPr>
              <a:t>Groq 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" y="4956048"/>
            <a:ext cx="1389888" cy="347472"/>
          </a:xfrm>
          <a:prstGeom prst="roundRect">
            <a:avLst>
              <a:gd name="adj" fmla="val 30000"/>
            </a:avLst>
          </a:prstGeom>
          <a:solidFill>
            <a:srgbClr val="1B1231"/>
          </a:solidFill>
          <a:ln w="1016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956048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B5CF6"/>
                </a:solidFill>
                <a:latin typeface="Calibri"/>
              </a:rPr>
              <a:t>Python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96312" y="4956048"/>
            <a:ext cx="1389888" cy="347472"/>
          </a:xfrm>
          <a:prstGeom prst="roundRect">
            <a:avLst>
              <a:gd name="adj" fmla="val 30000"/>
            </a:avLst>
          </a:prstGeom>
          <a:solidFill>
            <a:srgbClr val="1B1231"/>
          </a:solidFill>
          <a:ln w="1016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96312" y="4956048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B5CF6"/>
                </a:solidFill>
                <a:latin typeface="Calibri"/>
              </a:rPr>
              <a:t>Architecture</a:t>
            </a:r>
          </a:p>
        </p:txBody>
      </p:sp>
      <p:sp>
        <p:nvSpPr>
          <p:cNvPr id="21" name="Oval 20"/>
          <p:cNvSpPr/>
          <p:nvPr/>
        </p:nvSpPr>
        <p:spPr>
          <a:xfrm>
            <a:off x="5257800" y="1508760"/>
            <a:ext cx="1920240" cy="1920240"/>
          </a:xfrm>
          <a:prstGeom prst="ellipse">
            <a:avLst/>
          </a:prstGeom>
          <a:solidFill>
            <a:srgbClr val="062A2F"/>
          </a:solidFill>
          <a:ln w="317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74920" y="1325880"/>
            <a:ext cx="2286000" cy="2286000"/>
          </a:xfrm>
          <a:prstGeom prst="ellipse">
            <a:avLst/>
          </a:prstGeom>
          <a:noFill/>
          <a:ln w="19050">
            <a:solidFill>
              <a:srgbClr val="0B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16459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22D3EE"/>
                </a:solidFill>
                <a:latin typeface="Calibri"/>
              </a:rPr>
              <a:t>PG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566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Pavani Gubba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0416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22D3EE"/>
                </a:solidFill>
                <a:latin typeface="Calibri"/>
              </a:rPr>
              <a:t>Backend &amp; Data Lead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36592" y="4480560"/>
            <a:ext cx="1389888" cy="347472"/>
          </a:xfrm>
          <a:prstGeom prst="roundRect">
            <a:avLst>
              <a:gd name="adj" fmla="val 30000"/>
            </a:avLst>
          </a:prstGeom>
          <a:solidFill>
            <a:srgbClr val="062A2F"/>
          </a:solidFill>
          <a:ln w="1016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36592" y="4480560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2D3EE"/>
                </a:solidFill>
                <a:latin typeface="Calibri"/>
              </a:rPr>
              <a:t>Spring Boot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45352" y="4480560"/>
            <a:ext cx="1389888" cy="347472"/>
          </a:xfrm>
          <a:prstGeom prst="roundRect">
            <a:avLst>
              <a:gd name="adj" fmla="val 30000"/>
            </a:avLst>
          </a:prstGeom>
          <a:solidFill>
            <a:srgbClr val="062A2F"/>
          </a:solidFill>
          <a:ln w="1016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45352" y="4480560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2D3EE"/>
                </a:solidFill>
                <a:latin typeface="Calibri"/>
              </a:rPr>
              <a:t>Score Engines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36592" y="4956048"/>
            <a:ext cx="1389888" cy="347472"/>
          </a:xfrm>
          <a:prstGeom prst="roundRect">
            <a:avLst>
              <a:gd name="adj" fmla="val 30000"/>
            </a:avLst>
          </a:prstGeom>
          <a:solidFill>
            <a:srgbClr val="062A2F"/>
          </a:solidFill>
          <a:ln w="1016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36592" y="4956048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2D3EE"/>
                </a:solidFill>
                <a:latin typeface="Calibri"/>
              </a:rPr>
              <a:t>PostgreSQL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5352" y="4956048"/>
            <a:ext cx="1389888" cy="347472"/>
          </a:xfrm>
          <a:prstGeom prst="roundRect">
            <a:avLst>
              <a:gd name="adj" fmla="val 30000"/>
            </a:avLst>
          </a:prstGeom>
          <a:solidFill>
            <a:srgbClr val="062A2F"/>
          </a:solidFill>
          <a:ln w="1016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45352" y="4956048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2D3EE"/>
                </a:solidFill>
                <a:latin typeface="Calibri"/>
              </a:rPr>
              <a:t>APIs</a:t>
            </a:r>
          </a:p>
        </p:txBody>
      </p:sp>
      <p:sp>
        <p:nvSpPr>
          <p:cNvPr id="34" name="Oval 33"/>
          <p:cNvSpPr/>
          <p:nvPr/>
        </p:nvSpPr>
        <p:spPr>
          <a:xfrm>
            <a:off x="9006840" y="1508760"/>
            <a:ext cx="1920240" cy="1920240"/>
          </a:xfrm>
          <a:prstGeom prst="ellipse">
            <a:avLst/>
          </a:prstGeom>
          <a:solidFill>
            <a:srgbClr val="2F0E1E"/>
          </a:solidFill>
          <a:ln w="3175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823960" y="1325880"/>
            <a:ext cx="2286000" cy="2286000"/>
          </a:xfrm>
          <a:prstGeom prst="ellipse">
            <a:avLst/>
          </a:prstGeom>
          <a:noFill/>
          <a:ln w="19050">
            <a:solidFill>
              <a:srgbClr val="4E1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6840" y="16459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C4899"/>
                </a:solidFill>
                <a:latin typeface="Calibri"/>
              </a:rPr>
              <a:t>SP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566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Samridhi Pandey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0416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EC4899"/>
                </a:solidFill>
                <a:latin typeface="Calibri"/>
              </a:rPr>
              <a:t>Design &amp; Frontend Lead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85632" y="4480560"/>
            <a:ext cx="1389888" cy="347472"/>
          </a:xfrm>
          <a:prstGeom prst="roundRect">
            <a:avLst>
              <a:gd name="adj" fmla="val 30000"/>
            </a:avLst>
          </a:prstGeom>
          <a:solidFill>
            <a:srgbClr val="2F0E1E"/>
          </a:solidFill>
          <a:ln w="1016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85632" y="4480560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C4899"/>
                </a:solidFill>
                <a:latin typeface="Calibri"/>
              </a:rPr>
              <a:t>UI/UX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94392" y="4480560"/>
            <a:ext cx="1389888" cy="347472"/>
          </a:xfrm>
          <a:prstGeom prst="roundRect">
            <a:avLst>
              <a:gd name="adj" fmla="val 30000"/>
            </a:avLst>
          </a:prstGeom>
          <a:solidFill>
            <a:srgbClr val="2F0E1E"/>
          </a:solidFill>
          <a:ln w="1016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94392" y="4480560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C4899"/>
                </a:solidFill>
                <a:latin typeface="Calibri"/>
              </a:rPr>
              <a:t>Tailwind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85632" y="4956048"/>
            <a:ext cx="1389888" cy="347472"/>
          </a:xfrm>
          <a:prstGeom prst="roundRect">
            <a:avLst>
              <a:gd name="adj" fmla="val 30000"/>
            </a:avLst>
          </a:prstGeom>
          <a:solidFill>
            <a:srgbClr val="2F0E1E"/>
          </a:solidFill>
          <a:ln w="1016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85632" y="4956048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C4899"/>
                </a:solidFill>
                <a:latin typeface="Calibri"/>
              </a:rPr>
              <a:t>Framer Motion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94392" y="4956048"/>
            <a:ext cx="1389888" cy="347472"/>
          </a:xfrm>
          <a:prstGeom prst="roundRect">
            <a:avLst>
              <a:gd name="adj" fmla="val 30000"/>
            </a:avLst>
          </a:prstGeom>
          <a:solidFill>
            <a:srgbClr val="2F0E1E"/>
          </a:solidFill>
          <a:ln w="1016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94392" y="4956048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C4899"/>
                </a:solidFill>
                <a:latin typeface="Calibri"/>
              </a:rPr>
              <a:t>Features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21792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  <a:latin typeface="Calibri"/>
              </a:rPr>
              <a:t>Built with:  React 19 · Vite 8 · Spring Boot 3.2 · Groq AI · Gemini 2.0 · Tailwind v4 · Tesseract.js · Nutritionix · GitHub API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Calibri"/>
              </a:rPr>
              <a:t>Building the world's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8B5CF6"/>
                </a:solidFill>
                <a:latin typeface="Calibri"/>
              </a:rPr>
              <a:t>Personal Digital 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94A3B8"/>
                </a:solidFill>
                <a:latin typeface="Calibri"/>
              </a:rPr>
              <a:t>that connects every life decision into one intelligent 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2999232"/>
            <a:ext cx="3959352" cy="25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2011680" cy="1417320"/>
          </a:xfrm>
          <a:prstGeom prst="roundRect">
            <a:avLst>
              <a:gd name="adj" fmla="val 8000"/>
            </a:avLst>
          </a:prstGeom>
          <a:solidFill>
            <a:srgbClr val="141130"/>
          </a:solidFill>
          <a:ln w="12700">
            <a:solidFill>
              <a:srgbClr val="242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55264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8B5CF6"/>
                </a:solidFill>
                <a:latin typeface="Calib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0507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Original
Features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39" y="3200400"/>
            <a:ext cx="2011680" cy="1417320"/>
          </a:xfrm>
          <a:prstGeom prst="roundRect">
            <a:avLst>
              <a:gd name="adj" fmla="val 8000"/>
            </a:avLst>
          </a:prstGeom>
          <a:solidFill>
            <a:srgbClr val="141130"/>
          </a:solidFill>
          <a:ln w="12700">
            <a:solidFill>
              <a:srgbClr val="242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39" y="3255264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8B5CF6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39" y="400507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Domains
Unified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59" y="3200400"/>
            <a:ext cx="2011680" cy="1417320"/>
          </a:xfrm>
          <a:prstGeom prst="roundRect">
            <a:avLst>
              <a:gd name="adj" fmla="val 8000"/>
            </a:avLst>
          </a:prstGeom>
          <a:solidFill>
            <a:srgbClr val="141130"/>
          </a:solidFill>
          <a:ln w="12700">
            <a:solidFill>
              <a:srgbClr val="242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59" y="3255264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8B5CF6"/>
                </a:solidFill>
                <a:latin typeface="Calibri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59" y="400507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PII to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200400"/>
            <a:ext cx="2011680" cy="1417320"/>
          </a:xfrm>
          <a:prstGeom prst="roundRect">
            <a:avLst>
              <a:gd name="adj" fmla="val 8000"/>
            </a:avLst>
          </a:prstGeom>
          <a:solidFill>
            <a:srgbClr val="141130"/>
          </a:solidFill>
          <a:ln w="12700">
            <a:solidFill>
              <a:srgbClr val="242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3255264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8B5CF6"/>
                </a:solidFill>
                <a:latin typeface="Calibri"/>
              </a:rPr>
              <a:t>847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400507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Simulations
Run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00400"/>
            <a:ext cx="2011680" cy="1417320"/>
          </a:xfrm>
          <a:prstGeom prst="roundRect">
            <a:avLst>
              <a:gd name="adj" fmla="val 8000"/>
            </a:avLst>
          </a:prstGeom>
          <a:solidFill>
            <a:srgbClr val="141130"/>
          </a:solidFill>
          <a:ln w="12700">
            <a:solidFill>
              <a:srgbClr val="242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255264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8B5CF6"/>
                </a:solidFill>
                <a:latin typeface="Calibri"/>
              </a:rPr>
              <a:t>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400507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Cascade
Paths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21792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5563"/>
                </a:solidFill>
                <a:latin typeface="Calibri"/>
              </a:rPr>
              <a:t>BeyondSelf  ·  4 June 2026  ·  Khushi Bansal  ·  Pavani Gubba  ·  Samridhi Pandey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